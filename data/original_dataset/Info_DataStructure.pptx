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9" r:id="rId5"/>
    <p:sldId id="256" r:id="rId6"/>
    <p:sldId id="257" r:id="rId7"/>
    <p:sldId id="258" r:id="rId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52957E-FA1A-4ADA-9B90-C432F665532F}" v="3" dt="2026-02-09T10:14:18.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436" autoAdjust="0"/>
  </p:normalViewPr>
  <p:slideViewPr>
    <p:cSldViewPr snapToGrid="0">
      <p:cViewPr varScale="1">
        <p:scale>
          <a:sx n="100" d="100"/>
          <a:sy n="100" d="100"/>
        </p:scale>
        <p:origin x="99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TRO BILANCIA" userId="f227a1cf-df95-4be9-9b8e-7599f8c38f3a" providerId="ADAL" clId="{B4475D16-D82A-4EA3-8740-9917DD2BE367}"/>
    <pc:docChg chg="undo custSel modSld">
      <pc:chgData name="PIETRO BILANCIA" userId="f227a1cf-df95-4be9-9b8e-7599f8c38f3a" providerId="ADAL" clId="{B4475D16-D82A-4EA3-8740-9917DD2BE367}" dt="2026-02-09T10:21:08.459" v="505" actId="20577"/>
      <pc:docMkLst>
        <pc:docMk/>
      </pc:docMkLst>
      <pc:sldChg chg="addSp modSp mod">
        <pc:chgData name="PIETRO BILANCIA" userId="f227a1cf-df95-4be9-9b8e-7599f8c38f3a" providerId="ADAL" clId="{B4475D16-D82A-4EA3-8740-9917DD2BE367}" dt="2026-02-09T10:18:07.627" v="402" actId="20577"/>
        <pc:sldMkLst>
          <pc:docMk/>
          <pc:sldMk cId="2262272433" sldId="257"/>
        </pc:sldMkLst>
        <pc:spChg chg="add">
          <ac:chgData name="PIETRO BILANCIA" userId="f227a1cf-df95-4be9-9b8e-7599f8c38f3a" providerId="ADAL" clId="{B4475D16-D82A-4EA3-8740-9917DD2BE367}" dt="2026-02-09T10:13:51.469" v="180"/>
          <ac:spMkLst>
            <pc:docMk/>
            <pc:sldMk cId="2262272433" sldId="257"/>
            <ac:spMk id="2" creationId="{F276BD6E-C83B-A32D-3393-6676CA8385FB}"/>
          </ac:spMkLst>
        </pc:spChg>
        <pc:spChg chg="add">
          <ac:chgData name="PIETRO BILANCIA" userId="f227a1cf-df95-4be9-9b8e-7599f8c38f3a" providerId="ADAL" clId="{B4475D16-D82A-4EA3-8740-9917DD2BE367}" dt="2026-02-09T10:13:51.469" v="180"/>
          <ac:spMkLst>
            <pc:docMk/>
            <pc:sldMk cId="2262272433" sldId="257"/>
            <ac:spMk id="3" creationId="{4AA7F525-1F28-CBA5-7DAB-76F6ED400765}"/>
          </ac:spMkLst>
        </pc:spChg>
        <pc:spChg chg="mod">
          <ac:chgData name="PIETRO BILANCIA" userId="f227a1cf-df95-4be9-9b8e-7599f8c38f3a" providerId="ADAL" clId="{B4475D16-D82A-4EA3-8740-9917DD2BE367}" dt="2026-02-09T10:18:07.627" v="402" actId="20577"/>
          <ac:spMkLst>
            <pc:docMk/>
            <pc:sldMk cId="2262272433" sldId="257"/>
            <ac:spMk id="5" creationId="{DA71B90F-AFCC-473C-FB98-A564EDC62189}"/>
          </ac:spMkLst>
        </pc:spChg>
      </pc:sldChg>
      <pc:sldChg chg="modSp mod">
        <pc:chgData name="PIETRO BILANCIA" userId="f227a1cf-df95-4be9-9b8e-7599f8c38f3a" providerId="ADAL" clId="{B4475D16-D82A-4EA3-8740-9917DD2BE367}" dt="2026-02-09T10:21:08.459" v="505" actId="20577"/>
        <pc:sldMkLst>
          <pc:docMk/>
          <pc:sldMk cId="1144845858" sldId="258"/>
        </pc:sldMkLst>
        <pc:spChg chg="mod">
          <ac:chgData name="PIETRO BILANCIA" userId="f227a1cf-df95-4be9-9b8e-7599f8c38f3a" providerId="ADAL" clId="{B4475D16-D82A-4EA3-8740-9917DD2BE367}" dt="2026-02-09T10:21:08.459" v="505" actId="20577"/>
          <ac:spMkLst>
            <pc:docMk/>
            <pc:sldMk cId="1144845858" sldId="258"/>
            <ac:spMk id="5" creationId="{26779DE5-BBC1-223B-108E-F9C9FAF0B03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B94AFE-9E85-41E5-BD64-C881CD0088F9}" type="datetimeFigureOut">
              <a:rPr lang="it-IT" smtClean="0"/>
              <a:t>13/02/2026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527D18-1CEE-4F57-BF0B-2637FAB905E5}" type="slidenum">
              <a:rPr lang="it-IT" smtClean="0"/>
              <a:t>‹N›</a:t>
            </a:fld>
            <a:endParaRPr lang="it-IT"/>
          </a:p>
        </p:txBody>
      </p:sp>
    </p:spTree>
    <p:extLst>
      <p:ext uri="{BB962C8B-B14F-4D97-AF65-F5344CB8AC3E}">
        <p14:creationId xmlns:p14="http://schemas.microsoft.com/office/powerpoint/2010/main" val="2067121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E527D18-1CEE-4F57-BF0B-2637FAB905E5}" type="slidenum">
              <a:rPr lang="it-IT" smtClean="0"/>
              <a:t>1</a:t>
            </a:fld>
            <a:endParaRPr lang="it-IT"/>
          </a:p>
        </p:txBody>
      </p:sp>
    </p:spTree>
    <p:extLst>
      <p:ext uri="{BB962C8B-B14F-4D97-AF65-F5344CB8AC3E}">
        <p14:creationId xmlns:p14="http://schemas.microsoft.com/office/powerpoint/2010/main" val="1616831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E527D18-1CEE-4F57-BF0B-2637FAB905E5}" type="slidenum">
              <a:rPr lang="it-IT" smtClean="0"/>
              <a:t>3</a:t>
            </a:fld>
            <a:endParaRPr lang="it-IT"/>
          </a:p>
        </p:txBody>
      </p:sp>
    </p:spTree>
    <p:extLst>
      <p:ext uri="{BB962C8B-B14F-4D97-AF65-F5344CB8AC3E}">
        <p14:creationId xmlns:p14="http://schemas.microsoft.com/office/powerpoint/2010/main" val="3051471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AF0203-9303-9E43-7C40-F46E00D923C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0189B127-8334-3D82-FD45-F2CF754AC9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2EABB9A1-E232-E141-F4D9-81F66D7C5BB8}"/>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DC1C568B-FFD3-8E1E-2F6F-E6DFFB6E1EE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4FABF18-5FF7-D568-0590-B86F81A5BD5B}"/>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3070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77575D-FDB5-8A6E-FA29-624CD68A597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FE97803-EEDF-A969-7EEB-38949850EC6B}"/>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BDF4EAF-5113-235C-6DFA-A20397A00B5B}"/>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64A8B507-0386-B6D5-088C-DB62B39130D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CB9E6B1-A1BA-0025-1E1C-30F57DEF7A54}"/>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951189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B4E252-3E31-52F8-65C6-57B2DF9F1D3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E941830F-8A25-A390-C4A3-5981A4EC19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C8DAB5D-71B2-25A0-97A4-9F9EDEB8FAD9}"/>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338672E1-D541-4C67-3B37-F43CDF74603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882E3A-A284-3794-FD95-0CA2F054D1C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470264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17B3E96-C7F3-536A-6642-F30DEA21202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A0FE2D1-D897-58CF-D321-8549BF1E64C2}"/>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15D03C81-BF64-DAF9-7C52-B9642D7F455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C8460CF1-4220-79AA-8580-0FFA29D32219}"/>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146521A5-1049-4534-80C1-D83D2C61E1C6}"/>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CBB5EF4-4AF1-F564-C991-8D2D8C5DED62}"/>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418079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4505F8-E783-0200-34DE-8FC117009234}"/>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77FE83FF-5D9B-8F23-02D1-4545C80A51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0B4E9E69-7687-C998-46F3-7AE30BB5884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D18120F-3242-F0F5-7844-931049A821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A97F9000-F0AC-D3A6-53A1-AF84887C2E8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92C4FDFE-56EE-D29E-B598-AD7A49B16FEF}"/>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8" name="Segnaposto piè di pagina 7">
            <a:extLst>
              <a:ext uri="{FF2B5EF4-FFF2-40B4-BE49-F238E27FC236}">
                <a16:creationId xmlns:a16="http://schemas.microsoft.com/office/drawing/2014/main" id="{8E1AACB8-5CF4-DFDF-6769-EC29A7599807}"/>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2F68C185-9D53-5A42-7474-CA76557F2B8B}"/>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39671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521AB3-1D02-1BDD-66B9-45B89A111B3D}"/>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A6A3F38E-30A8-8162-86CB-7F220D9B3445}"/>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4" name="Segnaposto piè di pagina 3">
            <a:extLst>
              <a:ext uri="{FF2B5EF4-FFF2-40B4-BE49-F238E27FC236}">
                <a16:creationId xmlns:a16="http://schemas.microsoft.com/office/drawing/2014/main" id="{38EA4833-A85E-D026-67B0-D15A0ADD2941}"/>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7CC98551-1033-8669-6C1C-29D09E212E7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3689215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B73CD75-D383-D0AC-DDAA-3B24DFB674AA}"/>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3" name="Segnaposto piè di pagina 2">
            <a:extLst>
              <a:ext uri="{FF2B5EF4-FFF2-40B4-BE49-F238E27FC236}">
                <a16:creationId xmlns:a16="http://schemas.microsoft.com/office/drawing/2014/main" id="{A7051E30-852A-76CC-5653-B2D9A5551E6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1C7E66A8-E1DD-D198-70F9-021F6BA7EA96}"/>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2358758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527FB3-B3C6-D942-4DBB-C28D2F669F7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BE83DA9-07BC-5B7C-BA5D-7C5F89AB5F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2E239F76-0402-ABBA-6940-BF36CE71F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396464F-5AB0-06F5-E774-3F854A6F7F85}"/>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38459064-CAE1-1B0D-8DBB-6C1E7246263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50AC0A8-17C6-62C0-391E-378C71319D6E}"/>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954723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F562F7-AA22-DCF6-6560-F18D8511F56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B411F62-F9ED-EC0E-80DB-1591AB3C34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07FFFC1-5CFB-C9CF-F77F-F1B57D3CC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5A02E8D-3150-B981-1DBA-8DDB8403F394}"/>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6" name="Segnaposto piè di pagina 5">
            <a:extLst>
              <a:ext uri="{FF2B5EF4-FFF2-40B4-BE49-F238E27FC236}">
                <a16:creationId xmlns:a16="http://schemas.microsoft.com/office/drawing/2014/main" id="{B1E85F82-9BD8-C8EA-E42C-D4CB6F9B3D7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AAEFBF3B-2EAA-F6D4-F238-8A5478CC11A5}"/>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930664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7B99849-374E-E4EF-C152-6E13BF177FD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C1728F0-21EB-BB73-E945-013C59B5B457}"/>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4D86226-6C96-B1AA-A681-09C5A31CDFFB}"/>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99FECF75-0059-E89C-E111-20ACAA7CF3B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54EEDB3-2995-4B84-5322-BF0EA0745975}"/>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1743242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4B994E5-5A1D-4260-3ED6-16BF21E1557E}"/>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91CDFF7-288C-AA81-EF59-8CEE4FB99B5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4125722-B24F-1621-FB81-604F9FF40683}"/>
              </a:ext>
            </a:extLst>
          </p:cNvPr>
          <p:cNvSpPr>
            <a:spLocks noGrp="1"/>
          </p:cNvSpPr>
          <p:nvPr>
            <p:ph type="dt" sz="half" idx="10"/>
          </p:nvPr>
        </p:nvSpPr>
        <p:spPr/>
        <p:txBody>
          <a:body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80C6F393-DC89-1974-EF2B-A2CBE8413C9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B9042EC-6603-A812-C484-DCEE1863CDD8}"/>
              </a:ext>
            </a:extLst>
          </p:cNvPr>
          <p:cNvSpPr>
            <a:spLocks noGrp="1"/>
          </p:cNvSpPr>
          <p:nvPr>
            <p:ph type="sldNum" sz="quarter" idx="12"/>
          </p:nvPr>
        </p:nvSpPr>
        <p:spPr/>
        <p:txBody>
          <a:bodyPr/>
          <a:lstStyle/>
          <a:p>
            <a:fld id="{E31096CB-7C38-4693-B59E-C3544F9673C3}" type="slidenum">
              <a:rPr lang="it-IT" smtClean="0"/>
              <a:t>‹N›</a:t>
            </a:fld>
            <a:endParaRPr lang="it-IT"/>
          </a:p>
        </p:txBody>
      </p:sp>
    </p:spTree>
    <p:extLst>
      <p:ext uri="{BB962C8B-B14F-4D97-AF65-F5344CB8AC3E}">
        <p14:creationId xmlns:p14="http://schemas.microsoft.com/office/powerpoint/2010/main" val="2224275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B980121-8823-1F20-CD6C-45DDAC6E5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5E16C34-4237-9496-3FF0-A0105D37A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A1D1508-CF85-8D5F-DCBC-BF28E2940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FDE01F-AAED-4622-9D74-E11E0C70FCB7}" type="datetimeFigureOut">
              <a:rPr lang="it-IT" smtClean="0"/>
              <a:t>13/02/2026</a:t>
            </a:fld>
            <a:endParaRPr lang="it-IT"/>
          </a:p>
        </p:txBody>
      </p:sp>
      <p:sp>
        <p:nvSpPr>
          <p:cNvPr id="5" name="Segnaposto piè di pagina 4">
            <a:extLst>
              <a:ext uri="{FF2B5EF4-FFF2-40B4-BE49-F238E27FC236}">
                <a16:creationId xmlns:a16="http://schemas.microsoft.com/office/drawing/2014/main" id="{28756BB7-E1B9-D00E-0474-29E64FBCF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194488B5-9DE6-A3CF-0E40-78947BDE3B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1096CB-7C38-4693-B59E-C3544F9673C3}" type="slidenum">
              <a:rPr lang="it-IT" smtClean="0"/>
              <a:t>‹N›</a:t>
            </a:fld>
            <a:endParaRPr lang="it-IT"/>
          </a:p>
        </p:txBody>
      </p:sp>
    </p:spTree>
    <p:extLst>
      <p:ext uri="{BB962C8B-B14F-4D97-AF65-F5344CB8AC3E}">
        <p14:creationId xmlns:p14="http://schemas.microsoft.com/office/powerpoint/2010/main" val="77981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testo, schermata, numero, Carattere&#10;&#10;Il contenuto generato dall'IA potrebbe non essere corretto.">
            <a:extLst>
              <a:ext uri="{FF2B5EF4-FFF2-40B4-BE49-F238E27FC236}">
                <a16:creationId xmlns:a16="http://schemas.microsoft.com/office/drawing/2014/main" id="{0553452A-50DD-04C1-5C03-53845418F8D7}"/>
              </a:ext>
            </a:extLst>
          </p:cNvPr>
          <p:cNvPicPr>
            <a:picLocks noChangeAspect="1"/>
          </p:cNvPicPr>
          <p:nvPr/>
        </p:nvPicPr>
        <p:blipFill>
          <a:blip r:embed="rId3"/>
          <a:stretch>
            <a:fillRect/>
          </a:stretch>
        </p:blipFill>
        <p:spPr>
          <a:xfrm>
            <a:off x="226381" y="2644019"/>
            <a:ext cx="11739237" cy="3556756"/>
          </a:xfrm>
          <a:prstGeom prst="rect">
            <a:avLst/>
          </a:prstGeom>
        </p:spPr>
      </p:pic>
      <p:sp>
        <p:nvSpPr>
          <p:cNvPr id="6" name="CasellaDiTesto 5">
            <a:extLst>
              <a:ext uri="{FF2B5EF4-FFF2-40B4-BE49-F238E27FC236}">
                <a16:creationId xmlns:a16="http://schemas.microsoft.com/office/drawing/2014/main" id="{00E4B405-9062-F2B5-277E-E1E975D702C4}"/>
              </a:ext>
            </a:extLst>
          </p:cNvPr>
          <p:cNvSpPr txBox="1"/>
          <p:nvPr/>
        </p:nvSpPr>
        <p:spPr>
          <a:xfrm>
            <a:off x="9250631" y="866775"/>
            <a:ext cx="2198419" cy="738664"/>
          </a:xfrm>
          <a:prstGeom prst="rect">
            <a:avLst/>
          </a:prstGeom>
          <a:noFill/>
        </p:spPr>
        <p:txBody>
          <a:bodyPr wrap="square" rtlCol="0">
            <a:spAutoFit/>
          </a:bodyPr>
          <a:lstStyle/>
          <a:p>
            <a:pPr algn="ctr"/>
            <a:r>
              <a:rPr lang="it-IT" sz="1400" dirty="0"/>
              <a:t>Coming from the encoder</a:t>
            </a:r>
          </a:p>
          <a:p>
            <a:pPr algn="ctr"/>
            <a:r>
              <a:rPr lang="it-IT" sz="1400" dirty="0"/>
              <a:t>(no elaborations, values from 0 to 359.9999999)</a:t>
            </a:r>
          </a:p>
        </p:txBody>
      </p:sp>
      <p:cxnSp>
        <p:nvCxnSpPr>
          <p:cNvPr id="8" name="Connettore 2 7">
            <a:extLst>
              <a:ext uri="{FF2B5EF4-FFF2-40B4-BE49-F238E27FC236}">
                <a16:creationId xmlns:a16="http://schemas.microsoft.com/office/drawing/2014/main" id="{B271BDAA-F50E-E4A4-AAAA-2A207781A6EA}"/>
              </a:ext>
            </a:extLst>
          </p:cNvPr>
          <p:cNvCxnSpPr>
            <a:stCxn id="6" idx="2"/>
          </p:cNvCxnSpPr>
          <p:nvPr/>
        </p:nvCxnSpPr>
        <p:spPr>
          <a:xfrm>
            <a:off x="10349841" y="1605439"/>
            <a:ext cx="851559" cy="12330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CasellaDiTesto 8">
            <a:extLst>
              <a:ext uri="{FF2B5EF4-FFF2-40B4-BE49-F238E27FC236}">
                <a16:creationId xmlns:a16="http://schemas.microsoft.com/office/drawing/2014/main" id="{606BAA49-E475-9245-C9D7-C9D77D2A31D5}"/>
              </a:ext>
            </a:extLst>
          </p:cNvPr>
          <p:cNvSpPr txBox="1"/>
          <p:nvPr/>
        </p:nvSpPr>
        <p:spPr>
          <a:xfrm>
            <a:off x="742950" y="866775"/>
            <a:ext cx="2198419" cy="738664"/>
          </a:xfrm>
          <a:prstGeom prst="rect">
            <a:avLst/>
          </a:prstGeom>
          <a:noFill/>
        </p:spPr>
        <p:txBody>
          <a:bodyPr wrap="square" rtlCol="0">
            <a:spAutoFit/>
          </a:bodyPr>
          <a:lstStyle/>
          <a:p>
            <a:pPr algn="ctr"/>
            <a:r>
              <a:rPr lang="it-IT" sz="1400" dirty="0"/>
              <a:t>Cumulative (multi-turn) values </a:t>
            </a:r>
            <a:r>
              <a:rPr lang="it-IT" sz="1400" u="sng" dirty="0"/>
              <a:t>after common </a:t>
            </a:r>
            <a:r>
              <a:rPr lang="it-IT" sz="1400" u="sng" dirty="0" err="1"/>
              <a:t>zeroing</a:t>
            </a:r>
            <a:r>
              <a:rPr lang="it-IT" sz="1400" u="sng" dirty="0"/>
              <a:t> (for </a:t>
            </a:r>
            <a:r>
              <a:rPr lang="it-IT" sz="1400" u="sng" dirty="0" err="1"/>
              <a:t>reference</a:t>
            </a:r>
            <a:r>
              <a:rPr lang="it-IT" sz="1400" u="sng" dirty="0"/>
              <a:t>)</a:t>
            </a:r>
          </a:p>
        </p:txBody>
      </p:sp>
      <p:cxnSp>
        <p:nvCxnSpPr>
          <p:cNvPr id="10" name="Connettore 2 9">
            <a:extLst>
              <a:ext uri="{FF2B5EF4-FFF2-40B4-BE49-F238E27FC236}">
                <a16:creationId xmlns:a16="http://schemas.microsoft.com/office/drawing/2014/main" id="{ED2B3AD7-F95F-7F9E-4D64-D2FFD17A8940}"/>
              </a:ext>
            </a:extLst>
          </p:cNvPr>
          <p:cNvCxnSpPr>
            <a:cxnSpLocks/>
          </p:cNvCxnSpPr>
          <p:nvPr/>
        </p:nvCxnSpPr>
        <p:spPr>
          <a:xfrm flipH="1">
            <a:off x="990600" y="1605439"/>
            <a:ext cx="851559" cy="103858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8C949E9A-3B5E-A8D9-3F23-55A8E8B36B67}"/>
              </a:ext>
            </a:extLst>
          </p:cNvPr>
          <p:cNvCxnSpPr>
            <a:cxnSpLocks/>
            <a:stCxn id="9" idx="2"/>
          </p:cNvCxnSpPr>
          <p:nvPr/>
        </p:nvCxnSpPr>
        <p:spPr>
          <a:xfrm flipH="1">
            <a:off x="1616404" y="1605439"/>
            <a:ext cx="225756" cy="11187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ttore 2 14">
            <a:extLst>
              <a:ext uri="{FF2B5EF4-FFF2-40B4-BE49-F238E27FC236}">
                <a16:creationId xmlns:a16="http://schemas.microsoft.com/office/drawing/2014/main" id="{DCCCAE42-48C7-E0A0-BE21-7CEC75F68D24}"/>
              </a:ext>
            </a:extLst>
          </p:cNvPr>
          <p:cNvCxnSpPr>
            <a:cxnSpLocks/>
            <a:stCxn id="9" idx="2"/>
          </p:cNvCxnSpPr>
          <p:nvPr/>
        </p:nvCxnSpPr>
        <p:spPr>
          <a:xfrm>
            <a:off x="1842160" y="1605439"/>
            <a:ext cx="891515" cy="1118711"/>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CasellaDiTesto 17">
            <a:extLst>
              <a:ext uri="{FF2B5EF4-FFF2-40B4-BE49-F238E27FC236}">
                <a16:creationId xmlns:a16="http://schemas.microsoft.com/office/drawing/2014/main" id="{FE1AC1ED-C2C9-DB87-FCA4-8EA33C6FC5F3}"/>
              </a:ext>
            </a:extLst>
          </p:cNvPr>
          <p:cNvSpPr txBox="1"/>
          <p:nvPr/>
        </p:nvSpPr>
        <p:spPr>
          <a:xfrm>
            <a:off x="5451023" y="1016733"/>
            <a:ext cx="2198419" cy="1169551"/>
          </a:xfrm>
          <a:prstGeom prst="rect">
            <a:avLst/>
          </a:prstGeom>
          <a:noFill/>
        </p:spPr>
        <p:txBody>
          <a:bodyPr wrap="square" rtlCol="0">
            <a:spAutoFit/>
          </a:bodyPr>
          <a:lstStyle/>
          <a:p>
            <a:pPr algn="ctr"/>
            <a:r>
              <a:rPr lang="it-IT" sz="1400" dirty="0" err="1"/>
              <a:t>Useful</a:t>
            </a:r>
            <a:r>
              <a:rPr lang="it-IT" sz="1400" dirty="0"/>
              <a:t> in post-processing to isolate the </a:t>
            </a:r>
            <a:r>
              <a:rPr lang="it-IT" sz="1400" dirty="0" err="1"/>
              <a:t>intervals</a:t>
            </a:r>
            <a:r>
              <a:rPr lang="it-IT" sz="1400" dirty="0"/>
              <a:t> where the </a:t>
            </a:r>
            <a:r>
              <a:rPr lang="it-IT" sz="1400" dirty="0" err="1"/>
              <a:t>reducer</a:t>
            </a:r>
            <a:r>
              <a:rPr lang="it-IT" sz="1400" dirty="0"/>
              <a:t> output side </a:t>
            </a:r>
            <a:r>
              <a:rPr lang="it-IT" sz="1400" dirty="0" err="1"/>
              <a:t>is</a:t>
            </a:r>
            <a:r>
              <a:rPr lang="it-IT" sz="1400" dirty="0"/>
              <a:t> </a:t>
            </a:r>
            <a:r>
              <a:rPr lang="it-IT" sz="1400" dirty="0" err="1"/>
              <a:t>between</a:t>
            </a:r>
            <a:r>
              <a:rPr lang="it-IT" sz="1400" dirty="0"/>
              <a:t> 0 and 360</a:t>
            </a:r>
          </a:p>
          <a:p>
            <a:pPr algn="ctr"/>
            <a:r>
              <a:rPr lang="it-IT" sz="1400" dirty="0"/>
              <a:t>(or opposite)</a:t>
            </a:r>
          </a:p>
        </p:txBody>
      </p:sp>
      <p:cxnSp>
        <p:nvCxnSpPr>
          <p:cNvPr id="19" name="Connettore 2 18">
            <a:extLst>
              <a:ext uri="{FF2B5EF4-FFF2-40B4-BE49-F238E27FC236}">
                <a16:creationId xmlns:a16="http://schemas.microsoft.com/office/drawing/2014/main" id="{382669F7-487E-1AC1-4377-446D3DF5674D}"/>
              </a:ext>
            </a:extLst>
          </p:cNvPr>
          <p:cNvCxnSpPr>
            <a:cxnSpLocks/>
          </p:cNvCxnSpPr>
          <p:nvPr/>
        </p:nvCxnSpPr>
        <p:spPr>
          <a:xfrm flipH="1">
            <a:off x="5114925" y="2186284"/>
            <a:ext cx="1579354" cy="82361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ttore 2 20">
            <a:extLst>
              <a:ext uri="{FF2B5EF4-FFF2-40B4-BE49-F238E27FC236}">
                <a16:creationId xmlns:a16="http://schemas.microsoft.com/office/drawing/2014/main" id="{BB26602A-700A-C1FE-EDDA-521C45C8B6E0}"/>
              </a:ext>
            </a:extLst>
          </p:cNvPr>
          <p:cNvCxnSpPr>
            <a:cxnSpLocks/>
          </p:cNvCxnSpPr>
          <p:nvPr/>
        </p:nvCxnSpPr>
        <p:spPr>
          <a:xfrm flipH="1">
            <a:off x="5998087" y="2186284"/>
            <a:ext cx="696191" cy="82361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Rettangolo 24">
            <a:extLst>
              <a:ext uri="{FF2B5EF4-FFF2-40B4-BE49-F238E27FC236}">
                <a16:creationId xmlns:a16="http://schemas.microsoft.com/office/drawing/2014/main" id="{C7D0A924-355F-0EA6-8BCE-DCDEF9FA9D5C}"/>
              </a:ext>
            </a:extLst>
          </p:cNvPr>
          <p:cNvSpPr/>
          <p:nvPr/>
        </p:nvSpPr>
        <p:spPr>
          <a:xfrm>
            <a:off x="2362200" y="4191000"/>
            <a:ext cx="1362075" cy="161925"/>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Rettangolo 25">
            <a:extLst>
              <a:ext uri="{FF2B5EF4-FFF2-40B4-BE49-F238E27FC236}">
                <a16:creationId xmlns:a16="http://schemas.microsoft.com/office/drawing/2014/main" id="{6762A4F9-1A4F-0024-4A9E-8EB13AB15B2B}"/>
              </a:ext>
            </a:extLst>
          </p:cNvPr>
          <p:cNvSpPr/>
          <p:nvPr/>
        </p:nvSpPr>
        <p:spPr>
          <a:xfrm>
            <a:off x="11049001" y="4191000"/>
            <a:ext cx="851560" cy="161925"/>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CasellaDiTesto 26">
            <a:extLst>
              <a:ext uri="{FF2B5EF4-FFF2-40B4-BE49-F238E27FC236}">
                <a16:creationId xmlns:a16="http://schemas.microsoft.com/office/drawing/2014/main" id="{8616B2A9-4BCE-E9D5-3F2C-BD23014B74E7}"/>
              </a:ext>
            </a:extLst>
          </p:cNvPr>
          <p:cNvSpPr txBox="1"/>
          <p:nvPr/>
        </p:nvSpPr>
        <p:spPr>
          <a:xfrm>
            <a:off x="4654644" y="44930"/>
            <a:ext cx="2882712" cy="584775"/>
          </a:xfrm>
          <a:prstGeom prst="rect">
            <a:avLst/>
          </a:prstGeom>
          <a:noFill/>
        </p:spPr>
        <p:txBody>
          <a:bodyPr wrap="none" rtlCol="0">
            <a:spAutoFit/>
          </a:bodyPr>
          <a:lstStyle/>
          <a:p>
            <a:r>
              <a:rPr lang="it-IT" sz="3200" b="1" dirty="0"/>
              <a:t>Data </a:t>
            </a:r>
            <a:r>
              <a:rPr lang="it-IT" sz="3200" b="1" dirty="0" err="1"/>
              <a:t>structure</a:t>
            </a:r>
            <a:endParaRPr lang="it-IT" sz="3200" b="1" dirty="0"/>
          </a:p>
        </p:txBody>
      </p:sp>
      <p:sp>
        <p:nvSpPr>
          <p:cNvPr id="28" name="Rettangolo 27">
            <a:extLst>
              <a:ext uri="{FF2B5EF4-FFF2-40B4-BE49-F238E27FC236}">
                <a16:creationId xmlns:a16="http://schemas.microsoft.com/office/drawing/2014/main" id="{971BEDC6-D14C-6A32-699B-8FDCE08897A9}"/>
              </a:ext>
            </a:extLst>
          </p:cNvPr>
          <p:cNvSpPr/>
          <p:nvPr/>
        </p:nvSpPr>
        <p:spPr>
          <a:xfrm>
            <a:off x="5114925" y="6448960"/>
            <a:ext cx="1838325" cy="209550"/>
          </a:xfrm>
          <a:prstGeom prst="rect">
            <a:avLst/>
          </a:prstGeom>
          <a:solidFill>
            <a:srgbClr val="FF0000">
              <a:alpha val="40000"/>
            </a:srgbClr>
          </a:solidFill>
          <a:ln w="19050">
            <a:solidFill>
              <a:srgbClr val="FF0000">
                <a:alpha val="22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See </a:t>
            </a:r>
            <a:r>
              <a:rPr lang="it-IT" dirty="0" err="1">
                <a:solidFill>
                  <a:schemeClr val="tx1"/>
                </a:solidFill>
              </a:rPr>
              <a:t>next</a:t>
            </a:r>
            <a:r>
              <a:rPr lang="it-IT" dirty="0">
                <a:solidFill>
                  <a:schemeClr val="tx1"/>
                </a:solidFill>
              </a:rPr>
              <a:t> slide</a:t>
            </a:r>
          </a:p>
        </p:txBody>
      </p:sp>
      <p:cxnSp>
        <p:nvCxnSpPr>
          <p:cNvPr id="29" name="Connettore 2 28">
            <a:extLst>
              <a:ext uri="{FF2B5EF4-FFF2-40B4-BE49-F238E27FC236}">
                <a16:creationId xmlns:a16="http://schemas.microsoft.com/office/drawing/2014/main" id="{35F558D3-AD9E-3680-E369-DD19FA25AAF9}"/>
              </a:ext>
            </a:extLst>
          </p:cNvPr>
          <p:cNvCxnSpPr>
            <a:cxnSpLocks/>
            <a:stCxn id="28" idx="0"/>
          </p:cNvCxnSpPr>
          <p:nvPr/>
        </p:nvCxnSpPr>
        <p:spPr>
          <a:xfrm flipH="1" flipV="1">
            <a:off x="3297688" y="4352925"/>
            <a:ext cx="2736400" cy="209603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ttore 2 31">
            <a:extLst>
              <a:ext uri="{FF2B5EF4-FFF2-40B4-BE49-F238E27FC236}">
                <a16:creationId xmlns:a16="http://schemas.microsoft.com/office/drawing/2014/main" id="{E67E24CD-0D5B-0E72-A87E-536EA53F0ECE}"/>
              </a:ext>
            </a:extLst>
          </p:cNvPr>
          <p:cNvCxnSpPr>
            <a:cxnSpLocks/>
            <a:stCxn id="28" idx="0"/>
            <a:endCxn id="26" idx="1"/>
          </p:cNvCxnSpPr>
          <p:nvPr/>
        </p:nvCxnSpPr>
        <p:spPr>
          <a:xfrm flipV="1">
            <a:off x="6034088" y="4271963"/>
            <a:ext cx="5014913" cy="2176997"/>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407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po 59">
            <a:extLst>
              <a:ext uri="{FF2B5EF4-FFF2-40B4-BE49-F238E27FC236}">
                <a16:creationId xmlns:a16="http://schemas.microsoft.com/office/drawing/2014/main" id="{26195F8C-3CB2-B680-1DEC-BC1B2AE06FBE}"/>
              </a:ext>
            </a:extLst>
          </p:cNvPr>
          <p:cNvGrpSpPr/>
          <p:nvPr/>
        </p:nvGrpSpPr>
        <p:grpSpPr>
          <a:xfrm>
            <a:off x="650676" y="1244723"/>
            <a:ext cx="10999162" cy="5291393"/>
            <a:chOff x="650676" y="1070987"/>
            <a:chExt cx="10999162" cy="5291393"/>
          </a:xfrm>
        </p:grpSpPr>
        <p:pic>
          <p:nvPicPr>
            <p:cNvPr id="4" name="Picture 1" descr="A picture containing machine, machine tool, lathe&#10;&#10;Description automatically generated">
              <a:extLst>
                <a:ext uri="{FF2B5EF4-FFF2-40B4-BE49-F238E27FC236}">
                  <a16:creationId xmlns:a16="http://schemas.microsoft.com/office/drawing/2014/main" id="{649336A0-4014-A4A6-C41A-8F568FA6981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620"/>
            <a:stretch/>
          </p:blipFill>
          <p:spPr>
            <a:xfrm>
              <a:off x="696088" y="2199404"/>
              <a:ext cx="10953750" cy="3096114"/>
            </a:xfrm>
            <a:prstGeom prst="rect">
              <a:avLst/>
            </a:prstGeom>
          </p:spPr>
        </p:pic>
        <p:cxnSp>
          <p:nvCxnSpPr>
            <p:cNvPr id="9" name="Connettore diritto 8">
              <a:extLst>
                <a:ext uri="{FF2B5EF4-FFF2-40B4-BE49-F238E27FC236}">
                  <a16:creationId xmlns:a16="http://schemas.microsoft.com/office/drawing/2014/main" id="{54BCDF13-C992-BF7F-DDE2-51273184DAFB}"/>
                </a:ext>
              </a:extLst>
            </p:cNvPr>
            <p:cNvCxnSpPr>
              <a:cxnSpLocks/>
            </p:cNvCxnSpPr>
            <p:nvPr/>
          </p:nvCxnSpPr>
          <p:spPr>
            <a:xfrm>
              <a:off x="4828032" y="1089275"/>
              <a:ext cx="0" cy="1469925"/>
            </a:xfrm>
            <a:prstGeom prst="line">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C813217E-3B58-87C0-96C7-88493E307628}"/>
                </a:ext>
              </a:extLst>
            </p:cNvPr>
            <p:cNvCxnSpPr>
              <a:cxnSpLocks/>
            </p:cNvCxnSpPr>
            <p:nvPr/>
          </p:nvCxnSpPr>
          <p:spPr>
            <a:xfrm flipH="1">
              <a:off x="3523030" y="1482467"/>
              <a:ext cx="1305002"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 name="Connettore 2 12">
              <a:extLst>
                <a:ext uri="{FF2B5EF4-FFF2-40B4-BE49-F238E27FC236}">
                  <a16:creationId xmlns:a16="http://schemas.microsoft.com/office/drawing/2014/main" id="{3ABFCD61-BE35-7E26-5C61-E2EE0BCA61CA}"/>
                </a:ext>
              </a:extLst>
            </p:cNvPr>
            <p:cNvCxnSpPr>
              <a:cxnSpLocks/>
            </p:cNvCxnSpPr>
            <p:nvPr/>
          </p:nvCxnSpPr>
          <p:spPr>
            <a:xfrm>
              <a:off x="4828032" y="1482467"/>
              <a:ext cx="1412566" cy="0"/>
            </a:xfrm>
            <a:prstGeom prst="straightConnector1">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CasellaDiTesto 13">
              <a:extLst>
                <a:ext uri="{FF2B5EF4-FFF2-40B4-BE49-F238E27FC236}">
                  <a16:creationId xmlns:a16="http://schemas.microsoft.com/office/drawing/2014/main" id="{784E547C-B935-E743-9720-BCF8012CFAB0}"/>
                </a:ext>
              </a:extLst>
            </p:cNvPr>
            <p:cNvSpPr txBox="1"/>
            <p:nvPr/>
          </p:nvSpPr>
          <p:spPr>
            <a:xfrm>
              <a:off x="3601416" y="1070987"/>
              <a:ext cx="1226618" cy="369332"/>
            </a:xfrm>
            <a:prstGeom prst="rect">
              <a:avLst/>
            </a:prstGeom>
            <a:noFill/>
          </p:spPr>
          <p:txBody>
            <a:bodyPr wrap="none" rtlCol="0">
              <a:spAutoFit/>
            </a:bodyPr>
            <a:lstStyle/>
            <a:p>
              <a:r>
                <a:rPr lang="it-IT" b="1" dirty="0"/>
                <a:t>Input side</a:t>
              </a:r>
            </a:p>
          </p:txBody>
        </p:sp>
        <p:sp>
          <p:nvSpPr>
            <p:cNvPr id="16" name="CasellaDiTesto 15">
              <a:extLst>
                <a:ext uri="{FF2B5EF4-FFF2-40B4-BE49-F238E27FC236}">
                  <a16:creationId xmlns:a16="http://schemas.microsoft.com/office/drawing/2014/main" id="{EAAD03FD-D09B-77E1-55D7-A266787BD1F9}"/>
                </a:ext>
              </a:extLst>
            </p:cNvPr>
            <p:cNvSpPr txBox="1"/>
            <p:nvPr/>
          </p:nvSpPr>
          <p:spPr>
            <a:xfrm>
              <a:off x="4828032" y="1070987"/>
              <a:ext cx="1412566" cy="369332"/>
            </a:xfrm>
            <a:prstGeom prst="rect">
              <a:avLst/>
            </a:prstGeom>
            <a:noFill/>
          </p:spPr>
          <p:txBody>
            <a:bodyPr wrap="none" rtlCol="0">
              <a:spAutoFit/>
            </a:bodyPr>
            <a:lstStyle/>
            <a:p>
              <a:r>
                <a:rPr lang="it-IT" b="1" dirty="0"/>
                <a:t>Output side</a:t>
              </a:r>
            </a:p>
          </p:txBody>
        </p:sp>
        <p:sp>
          <p:nvSpPr>
            <p:cNvPr id="20" name="CasellaDiTesto 19">
              <a:extLst>
                <a:ext uri="{FF2B5EF4-FFF2-40B4-BE49-F238E27FC236}">
                  <a16:creationId xmlns:a16="http://schemas.microsoft.com/office/drawing/2014/main" id="{86BC8C9C-C672-5D97-9751-594F8A802882}"/>
                </a:ext>
              </a:extLst>
            </p:cNvPr>
            <p:cNvSpPr txBox="1"/>
            <p:nvPr/>
          </p:nvSpPr>
          <p:spPr>
            <a:xfrm>
              <a:off x="824412" y="1141777"/>
              <a:ext cx="1489326" cy="1200329"/>
            </a:xfrm>
            <a:prstGeom prst="rect">
              <a:avLst/>
            </a:prstGeom>
            <a:noFill/>
          </p:spPr>
          <p:txBody>
            <a:bodyPr wrap="square" rtlCol="0">
              <a:spAutoFit/>
            </a:bodyPr>
            <a:lstStyle/>
            <a:p>
              <a:pPr algn="ctr"/>
              <a:r>
                <a:rPr lang="it-IT" dirty="0"/>
                <a:t>BOSCH </a:t>
              </a:r>
              <a:r>
                <a:rPr lang="it-IT" dirty="0" err="1"/>
                <a:t>servomotor</a:t>
              </a:r>
              <a:endParaRPr lang="it-IT" dirty="0"/>
            </a:p>
            <a:p>
              <a:pPr algn="ctr"/>
              <a:r>
                <a:rPr lang="it-IT" dirty="0"/>
                <a:t>(position-</a:t>
              </a:r>
              <a:r>
                <a:rPr lang="it-IT" dirty="0" err="1"/>
                <a:t>controlled</a:t>
              </a:r>
              <a:r>
                <a:rPr lang="it-IT" dirty="0"/>
                <a:t>)</a:t>
              </a:r>
            </a:p>
          </p:txBody>
        </p:sp>
        <p:sp>
          <p:nvSpPr>
            <p:cNvPr id="21" name="CasellaDiTesto 20">
              <a:extLst>
                <a:ext uri="{FF2B5EF4-FFF2-40B4-BE49-F238E27FC236}">
                  <a16:creationId xmlns:a16="http://schemas.microsoft.com/office/drawing/2014/main" id="{9911EEDA-EC72-2042-DE40-9C36D7FDA1E7}"/>
                </a:ext>
              </a:extLst>
            </p:cNvPr>
            <p:cNvSpPr txBox="1"/>
            <p:nvPr/>
          </p:nvSpPr>
          <p:spPr>
            <a:xfrm>
              <a:off x="9906195" y="1141777"/>
              <a:ext cx="1489326" cy="1200329"/>
            </a:xfrm>
            <a:prstGeom prst="rect">
              <a:avLst/>
            </a:prstGeom>
            <a:noFill/>
          </p:spPr>
          <p:txBody>
            <a:bodyPr wrap="square" rtlCol="0">
              <a:spAutoFit/>
            </a:bodyPr>
            <a:lstStyle/>
            <a:p>
              <a:pPr algn="ctr"/>
              <a:r>
                <a:rPr lang="it-IT" dirty="0"/>
                <a:t>BOSCH </a:t>
              </a:r>
              <a:r>
                <a:rPr lang="it-IT" dirty="0" err="1"/>
                <a:t>servomotor</a:t>
              </a:r>
              <a:endParaRPr lang="it-IT" dirty="0"/>
            </a:p>
            <a:p>
              <a:pPr algn="ctr"/>
              <a:r>
                <a:rPr lang="it-IT" dirty="0"/>
                <a:t>(torque-</a:t>
              </a:r>
              <a:r>
                <a:rPr lang="it-IT" dirty="0" err="1"/>
                <a:t>controlled</a:t>
              </a:r>
              <a:r>
                <a:rPr lang="it-IT" dirty="0"/>
                <a:t>)</a:t>
              </a:r>
            </a:p>
          </p:txBody>
        </p:sp>
        <p:sp>
          <p:nvSpPr>
            <p:cNvPr id="22" name="CasellaDiTesto 21">
              <a:extLst>
                <a:ext uri="{FF2B5EF4-FFF2-40B4-BE49-F238E27FC236}">
                  <a16:creationId xmlns:a16="http://schemas.microsoft.com/office/drawing/2014/main" id="{69F0CB56-2CFC-1E04-DEBF-C1B37E3276B0}"/>
                </a:ext>
              </a:extLst>
            </p:cNvPr>
            <p:cNvSpPr txBox="1"/>
            <p:nvPr/>
          </p:nvSpPr>
          <p:spPr>
            <a:xfrm>
              <a:off x="3232042" y="5458454"/>
              <a:ext cx="964782" cy="646331"/>
            </a:xfrm>
            <a:prstGeom prst="rect">
              <a:avLst/>
            </a:prstGeom>
            <a:noFill/>
          </p:spPr>
          <p:txBody>
            <a:bodyPr wrap="square" rtlCol="0">
              <a:spAutoFit/>
            </a:bodyPr>
            <a:lstStyle/>
            <a:p>
              <a:pPr algn="ctr"/>
              <a:r>
                <a:rPr lang="it-IT" sz="1200" dirty="0">
                  <a:solidFill>
                    <a:srgbClr val="FF0000"/>
                  </a:solidFill>
                </a:rPr>
                <a:t>Renishaw</a:t>
              </a:r>
            </a:p>
            <a:p>
              <a:pPr algn="ctr"/>
              <a:r>
                <a:rPr lang="it-IT" sz="1200" dirty="0">
                  <a:solidFill>
                    <a:srgbClr val="FF0000"/>
                  </a:solidFill>
                </a:rPr>
                <a:t>(</a:t>
              </a:r>
              <a:r>
                <a:rPr lang="it-IT" sz="1200" dirty="0" err="1">
                  <a:solidFill>
                    <a:srgbClr val="FF0000"/>
                  </a:solidFill>
                </a:rPr>
                <a:t>absolute</a:t>
              </a:r>
              <a:r>
                <a:rPr lang="it-IT" sz="1200" dirty="0">
                  <a:solidFill>
                    <a:srgbClr val="FF0000"/>
                  </a:solidFill>
                </a:rPr>
                <a:t>) Encoder</a:t>
              </a:r>
            </a:p>
          </p:txBody>
        </p:sp>
        <p:sp>
          <p:nvSpPr>
            <p:cNvPr id="23" name="CasellaDiTesto 22">
              <a:extLst>
                <a:ext uri="{FF2B5EF4-FFF2-40B4-BE49-F238E27FC236}">
                  <a16:creationId xmlns:a16="http://schemas.microsoft.com/office/drawing/2014/main" id="{3F7E72E8-082E-E21A-9832-29C5CF0EA070}"/>
                </a:ext>
              </a:extLst>
            </p:cNvPr>
            <p:cNvSpPr txBox="1"/>
            <p:nvPr/>
          </p:nvSpPr>
          <p:spPr>
            <a:xfrm>
              <a:off x="2084754" y="5551337"/>
              <a:ext cx="1086886" cy="461665"/>
            </a:xfrm>
            <a:prstGeom prst="rect">
              <a:avLst/>
            </a:prstGeom>
            <a:noFill/>
          </p:spPr>
          <p:txBody>
            <a:bodyPr wrap="square" rtlCol="0">
              <a:spAutoFit/>
            </a:bodyPr>
            <a:lstStyle/>
            <a:p>
              <a:pPr algn="ctr"/>
              <a:r>
                <a:rPr lang="it-IT" sz="1200" dirty="0">
                  <a:solidFill>
                    <a:srgbClr val="FF0000"/>
                  </a:solidFill>
                </a:rPr>
                <a:t>Manner </a:t>
              </a:r>
              <a:r>
                <a:rPr lang="it-IT" sz="1200" dirty="0" err="1">
                  <a:solidFill>
                    <a:srgbClr val="FF0000"/>
                  </a:solidFill>
                </a:rPr>
                <a:t>Torquemeter</a:t>
              </a:r>
              <a:endParaRPr lang="it-IT" sz="1200" dirty="0">
                <a:solidFill>
                  <a:srgbClr val="FF0000"/>
                </a:solidFill>
              </a:endParaRPr>
            </a:p>
          </p:txBody>
        </p:sp>
        <p:sp>
          <p:nvSpPr>
            <p:cNvPr id="24" name="CasellaDiTesto 23">
              <a:extLst>
                <a:ext uri="{FF2B5EF4-FFF2-40B4-BE49-F238E27FC236}">
                  <a16:creationId xmlns:a16="http://schemas.microsoft.com/office/drawing/2014/main" id="{66286725-1E56-6483-3DF3-C029E2E1BAB2}"/>
                </a:ext>
              </a:extLst>
            </p:cNvPr>
            <p:cNvSpPr txBox="1"/>
            <p:nvPr/>
          </p:nvSpPr>
          <p:spPr>
            <a:xfrm>
              <a:off x="5219426" y="5555635"/>
              <a:ext cx="1086886" cy="461665"/>
            </a:xfrm>
            <a:prstGeom prst="rect">
              <a:avLst/>
            </a:prstGeom>
            <a:noFill/>
          </p:spPr>
          <p:txBody>
            <a:bodyPr wrap="square" rtlCol="0">
              <a:spAutoFit/>
            </a:bodyPr>
            <a:lstStyle/>
            <a:p>
              <a:pPr algn="ctr"/>
              <a:r>
                <a:rPr lang="it-IT" sz="1200" dirty="0">
                  <a:solidFill>
                    <a:srgbClr val="FF0000"/>
                  </a:solidFill>
                </a:rPr>
                <a:t>Manner </a:t>
              </a:r>
              <a:r>
                <a:rPr lang="it-IT" sz="1200" dirty="0" err="1">
                  <a:solidFill>
                    <a:srgbClr val="FF0000"/>
                  </a:solidFill>
                </a:rPr>
                <a:t>Torquemeter</a:t>
              </a:r>
              <a:endParaRPr lang="it-IT" sz="1200" dirty="0">
                <a:solidFill>
                  <a:srgbClr val="FF0000"/>
                </a:solidFill>
              </a:endParaRPr>
            </a:p>
          </p:txBody>
        </p:sp>
        <p:sp>
          <p:nvSpPr>
            <p:cNvPr id="25" name="CasellaDiTesto 24">
              <a:extLst>
                <a:ext uri="{FF2B5EF4-FFF2-40B4-BE49-F238E27FC236}">
                  <a16:creationId xmlns:a16="http://schemas.microsoft.com/office/drawing/2014/main" id="{6CAA966B-79E7-F060-C04C-D5F7E17B8883}"/>
                </a:ext>
              </a:extLst>
            </p:cNvPr>
            <p:cNvSpPr txBox="1"/>
            <p:nvPr/>
          </p:nvSpPr>
          <p:spPr>
            <a:xfrm>
              <a:off x="4340933" y="5458455"/>
              <a:ext cx="964782" cy="646331"/>
            </a:xfrm>
            <a:prstGeom prst="rect">
              <a:avLst/>
            </a:prstGeom>
            <a:noFill/>
          </p:spPr>
          <p:txBody>
            <a:bodyPr wrap="square" rtlCol="0">
              <a:spAutoFit/>
            </a:bodyPr>
            <a:lstStyle/>
            <a:p>
              <a:pPr algn="ctr"/>
              <a:r>
                <a:rPr lang="it-IT" sz="1200" dirty="0">
                  <a:solidFill>
                    <a:srgbClr val="FF0000"/>
                  </a:solidFill>
                </a:rPr>
                <a:t>Renishaw</a:t>
              </a:r>
            </a:p>
            <a:p>
              <a:pPr algn="ctr"/>
              <a:r>
                <a:rPr lang="it-IT" sz="1200" dirty="0">
                  <a:solidFill>
                    <a:srgbClr val="FF0000"/>
                  </a:solidFill>
                </a:rPr>
                <a:t>(</a:t>
              </a:r>
              <a:r>
                <a:rPr lang="it-IT" sz="1200" dirty="0" err="1">
                  <a:solidFill>
                    <a:srgbClr val="FF0000"/>
                  </a:solidFill>
                </a:rPr>
                <a:t>absolute</a:t>
              </a:r>
              <a:r>
                <a:rPr lang="it-IT" sz="1200" dirty="0">
                  <a:solidFill>
                    <a:srgbClr val="FF0000"/>
                  </a:solidFill>
                </a:rPr>
                <a:t>) Encoder</a:t>
              </a:r>
            </a:p>
          </p:txBody>
        </p:sp>
        <p:cxnSp>
          <p:nvCxnSpPr>
            <p:cNvPr id="26" name="Connettore 2 25">
              <a:extLst>
                <a:ext uri="{FF2B5EF4-FFF2-40B4-BE49-F238E27FC236}">
                  <a16:creationId xmlns:a16="http://schemas.microsoft.com/office/drawing/2014/main" id="{F15B734B-1888-00C3-AEC2-A95EADF3974E}"/>
                </a:ext>
              </a:extLst>
            </p:cNvPr>
            <p:cNvCxnSpPr>
              <a:cxnSpLocks/>
              <a:stCxn id="23" idx="0"/>
            </p:cNvCxnSpPr>
            <p:nvPr/>
          </p:nvCxnSpPr>
          <p:spPr>
            <a:xfrm flipV="1">
              <a:off x="2628197" y="3529584"/>
              <a:ext cx="543443" cy="2021753"/>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ttore 2 28">
              <a:extLst>
                <a:ext uri="{FF2B5EF4-FFF2-40B4-BE49-F238E27FC236}">
                  <a16:creationId xmlns:a16="http://schemas.microsoft.com/office/drawing/2014/main" id="{E5FCD3EE-FDD2-9A08-8FFB-EAF477194263}"/>
                </a:ext>
              </a:extLst>
            </p:cNvPr>
            <p:cNvCxnSpPr>
              <a:cxnSpLocks/>
              <a:stCxn id="22" idx="0"/>
            </p:cNvCxnSpPr>
            <p:nvPr/>
          </p:nvCxnSpPr>
          <p:spPr>
            <a:xfrm flipH="1" flipV="1">
              <a:off x="3602374" y="3529584"/>
              <a:ext cx="112059" cy="1928870"/>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ttore 2 31">
              <a:extLst>
                <a:ext uri="{FF2B5EF4-FFF2-40B4-BE49-F238E27FC236}">
                  <a16:creationId xmlns:a16="http://schemas.microsoft.com/office/drawing/2014/main" id="{16609BFE-8D24-AB14-B59E-DA30E81D0EFA}"/>
                </a:ext>
              </a:extLst>
            </p:cNvPr>
            <p:cNvCxnSpPr>
              <a:cxnSpLocks/>
              <a:stCxn id="25" idx="0"/>
            </p:cNvCxnSpPr>
            <p:nvPr/>
          </p:nvCxnSpPr>
          <p:spPr>
            <a:xfrm flipV="1">
              <a:off x="4823324" y="3666744"/>
              <a:ext cx="396102" cy="179171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ttore 2 34">
              <a:extLst>
                <a:ext uri="{FF2B5EF4-FFF2-40B4-BE49-F238E27FC236}">
                  <a16:creationId xmlns:a16="http://schemas.microsoft.com/office/drawing/2014/main" id="{8BF255F4-23E2-3E95-30F9-ECA2E5F9E999}"/>
                </a:ext>
              </a:extLst>
            </p:cNvPr>
            <p:cNvCxnSpPr>
              <a:cxnSpLocks/>
              <a:stCxn id="24" idx="0"/>
            </p:cNvCxnSpPr>
            <p:nvPr/>
          </p:nvCxnSpPr>
          <p:spPr>
            <a:xfrm flipH="1" flipV="1">
              <a:off x="5449824" y="3666744"/>
              <a:ext cx="313045" cy="1888891"/>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0" name="CasellaDiTesto 39">
              <a:extLst>
                <a:ext uri="{FF2B5EF4-FFF2-40B4-BE49-F238E27FC236}">
                  <a16:creationId xmlns:a16="http://schemas.microsoft.com/office/drawing/2014/main" id="{F8BCAF5D-5221-F09C-4490-C3BAAFAB0EE1}"/>
                </a:ext>
              </a:extLst>
            </p:cNvPr>
            <p:cNvSpPr txBox="1"/>
            <p:nvPr/>
          </p:nvSpPr>
          <p:spPr>
            <a:xfrm>
              <a:off x="2693141" y="2575476"/>
              <a:ext cx="944489" cy="307777"/>
            </a:xfrm>
            <a:prstGeom prst="rect">
              <a:avLst/>
            </a:prstGeom>
            <a:solidFill>
              <a:schemeClr val="bg1"/>
            </a:solidFill>
          </p:spPr>
          <p:txBody>
            <a:bodyPr wrap="none" rtlCol="0">
              <a:spAutoFit/>
            </a:bodyPr>
            <a:lstStyle/>
            <a:p>
              <a:r>
                <a:rPr lang="it-IT" sz="1400" i="1" dirty="0"/>
                <a:t>Fast </a:t>
              </a:r>
              <a:r>
                <a:rPr lang="it-IT" sz="1400" i="1" dirty="0" err="1"/>
                <a:t>shaft</a:t>
              </a:r>
              <a:endParaRPr lang="it-IT" sz="1400" i="1" dirty="0"/>
            </a:p>
          </p:txBody>
        </p:sp>
        <p:sp>
          <p:nvSpPr>
            <p:cNvPr id="41" name="CasellaDiTesto 40">
              <a:extLst>
                <a:ext uri="{FF2B5EF4-FFF2-40B4-BE49-F238E27FC236}">
                  <a16:creationId xmlns:a16="http://schemas.microsoft.com/office/drawing/2014/main" id="{84C1CE8D-DFEE-1D73-6382-6786EE4FE515}"/>
                </a:ext>
              </a:extLst>
            </p:cNvPr>
            <p:cNvSpPr txBox="1"/>
            <p:nvPr/>
          </p:nvSpPr>
          <p:spPr>
            <a:xfrm>
              <a:off x="5985996" y="2426039"/>
              <a:ext cx="986039" cy="307777"/>
            </a:xfrm>
            <a:prstGeom prst="rect">
              <a:avLst/>
            </a:prstGeom>
            <a:solidFill>
              <a:schemeClr val="bg1"/>
            </a:solidFill>
          </p:spPr>
          <p:txBody>
            <a:bodyPr wrap="none" rtlCol="0">
              <a:spAutoFit/>
            </a:bodyPr>
            <a:lstStyle/>
            <a:p>
              <a:r>
                <a:rPr lang="it-IT" sz="1400" i="1" dirty="0"/>
                <a:t>Slow </a:t>
              </a:r>
              <a:r>
                <a:rPr lang="it-IT" sz="1400" i="1" dirty="0" err="1"/>
                <a:t>shaft</a:t>
              </a:r>
              <a:endParaRPr lang="it-IT" sz="1400" i="1" dirty="0"/>
            </a:p>
          </p:txBody>
        </p:sp>
        <p:sp>
          <p:nvSpPr>
            <p:cNvPr id="42" name="CasellaDiTesto 41">
              <a:extLst>
                <a:ext uri="{FF2B5EF4-FFF2-40B4-BE49-F238E27FC236}">
                  <a16:creationId xmlns:a16="http://schemas.microsoft.com/office/drawing/2014/main" id="{A377DC5A-86E3-5FDA-914F-FDE81B5ADCDF}"/>
                </a:ext>
              </a:extLst>
            </p:cNvPr>
            <p:cNvSpPr txBox="1"/>
            <p:nvPr/>
          </p:nvSpPr>
          <p:spPr>
            <a:xfrm>
              <a:off x="8828532" y="2405311"/>
              <a:ext cx="944489" cy="307777"/>
            </a:xfrm>
            <a:prstGeom prst="rect">
              <a:avLst/>
            </a:prstGeom>
            <a:noFill/>
          </p:spPr>
          <p:txBody>
            <a:bodyPr wrap="none" rtlCol="0">
              <a:spAutoFit/>
            </a:bodyPr>
            <a:lstStyle/>
            <a:p>
              <a:r>
                <a:rPr lang="it-IT" sz="1400" i="1" dirty="0"/>
                <a:t>Fast </a:t>
              </a:r>
              <a:r>
                <a:rPr lang="it-IT" sz="1400" i="1" dirty="0" err="1"/>
                <a:t>shaft</a:t>
              </a:r>
              <a:endParaRPr lang="it-IT" sz="1400" i="1" dirty="0"/>
            </a:p>
          </p:txBody>
        </p:sp>
        <p:sp>
          <p:nvSpPr>
            <p:cNvPr id="44" name="CasellaDiTesto 43">
              <a:extLst>
                <a:ext uri="{FF2B5EF4-FFF2-40B4-BE49-F238E27FC236}">
                  <a16:creationId xmlns:a16="http://schemas.microsoft.com/office/drawing/2014/main" id="{0053B3DB-31FF-8187-A378-900428482EE8}"/>
                </a:ext>
              </a:extLst>
            </p:cNvPr>
            <p:cNvSpPr txBox="1"/>
            <p:nvPr/>
          </p:nvSpPr>
          <p:spPr>
            <a:xfrm>
              <a:off x="3389395" y="2143083"/>
              <a:ext cx="1086886" cy="461665"/>
            </a:xfrm>
            <a:prstGeom prst="rect">
              <a:avLst/>
            </a:prstGeom>
            <a:noFill/>
          </p:spPr>
          <p:txBody>
            <a:bodyPr wrap="square" rtlCol="0">
              <a:spAutoFit/>
            </a:bodyPr>
            <a:lstStyle/>
            <a:p>
              <a:pPr algn="ctr"/>
              <a:r>
                <a:rPr lang="it-IT" sz="1200" dirty="0">
                  <a:solidFill>
                    <a:srgbClr val="FF0000"/>
                  </a:solidFill>
                </a:rPr>
                <a:t>Temperature sensor</a:t>
              </a:r>
            </a:p>
          </p:txBody>
        </p:sp>
        <p:sp>
          <p:nvSpPr>
            <p:cNvPr id="45" name="CasellaDiTesto 44">
              <a:extLst>
                <a:ext uri="{FF2B5EF4-FFF2-40B4-BE49-F238E27FC236}">
                  <a16:creationId xmlns:a16="http://schemas.microsoft.com/office/drawing/2014/main" id="{ACD681B0-B6BD-AFE0-CC81-5EB40EA173CA}"/>
                </a:ext>
              </a:extLst>
            </p:cNvPr>
            <p:cNvSpPr txBox="1"/>
            <p:nvPr/>
          </p:nvSpPr>
          <p:spPr>
            <a:xfrm>
              <a:off x="8066233" y="1880441"/>
              <a:ext cx="1086886" cy="461665"/>
            </a:xfrm>
            <a:prstGeom prst="rect">
              <a:avLst/>
            </a:prstGeom>
            <a:noFill/>
          </p:spPr>
          <p:txBody>
            <a:bodyPr wrap="square" rtlCol="0">
              <a:spAutoFit/>
            </a:bodyPr>
            <a:lstStyle/>
            <a:p>
              <a:pPr algn="ctr"/>
              <a:r>
                <a:rPr lang="it-IT" sz="1200" dirty="0">
                  <a:solidFill>
                    <a:srgbClr val="FF0000"/>
                  </a:solidFill>
                </a:rPr>
                <a:t>Temperature sensor</a:t>
              </a:r>
            </a:p>
          </p:txBody>
        </p:sp>
        <p:sp>
          <p:nvSpPr>
            <p:cNvPr id="51" name="CasellaDiTesto 50">
              <a:extLst>
                <a:ext uri="{FF2B5EF4-FFF2-40B4-BE49-F238E27FC236}">
                  <a16:creationId xmlns:a16="http://schemas.microsoft.com/office/drawing/2014/main" id="{1F6A513F-B7F9-200D-B4D8-28675E4D0CB9}"/>
                </a:ext>
              </a:extLst>
            </p:cNvPr>
            <p:cNvSpPr txBox="1"/>
            <p:nvPr/>
          </p:nvSpPr>
          <p:spPr>
            <a:xfrm>
              <a:off x="650676" y="3091956"/>
              <a:ext cx="347472" cy="307777"/>
            </a:xfrm>
            <a:prstGeom prst="rect">
              <a:avLst/>
            </a:prstGeom>
            <a:solidFill>
              <a:srgbClr val="FFFF00"/>
            </a:solidFill>
          </p:spPr>
          <p:txBody>
            <a:bodyPr wrap="square" rtlCol="0">
              <a:spAutoFit/>
            </a:bodyPr>
            <a:lstStyle/>
            <a:p>
              <a:pPr algn="ctr"/>
              <a:r>
                <a:rPr lang="it-IT" sz="1400" dirty="0"/>
                <a:t>1</a:t>
              </a:r>
            </a:p>
          </p:txBody>
        </p:sp>
        <p:sp>
          <p:nvSpPr>
            <p:cNvPr id="52" name="CasellaDiTesto 51">
              <a:extLst>
                <a:ext uri="{FF2B5EF4-FFF2-40B4-BE49-F238E27FC236}">
                  <a16:creationId xmlns:a16="http://schemas.microsoft.com/office/drawing/2014/main" id="{253974C3-C556-AAB0-A103-998852816625}"/>
                </a:ext>
              </a:extLst>
            </p:cNvPr>
            <p:cNvSpPr txBox="1"/>
            <p:nvPr/>
          </p:nvSpPr>
          <p:spPr>
            <a:xfrm>
              <a:off x="3540697" y="6054603"/>
              <a:ext cx="347472" cy="307777"/>
            </a:xfrm>
            <a:prstGeom prst="rect">
              <a:avLst/>
            </a:prstGeom>
            <a:solidFill>
              <a:srgbClr val="FFFF00"/>
            </a:solidFill>
          </p:spPr>
          <p:txBody>
            <a:bodyPr wrap="square" rtlCol="0">
              <a:spAutoFit/>
            </a:bodyPr>
            <a:lstStyle/>
            <a:p>
              <a:pPr algn="ctr"/>
              <a:r>
                <a:rPr lang="it-IT" sz="1400" dirty="0"/>
                <a:t>2</a:t>
              </a:r>
            </a:p>
          </p:txBody>
        </p:sp>
        <p:sp>
          <p:nvSpPr>
            <p:cNvPr id="53" name="CasellaDiTesto 52">
              <a:extLst>
                <a:ext uri="{FF2B5EF4-FFF2-40B4-BE49-F238E27FC236}">
                  <a16:creationId xmlns:a16="http://schemas.microsoft.com/office/drawing/2014/main" id="{766C4A2B-4773-6F98-4DA9-3F13B90BA68A}"/>
                </a:ext>
              </a:extLst>
            </p:cNvPr>
            <p:cNvSpPr txBox="1"/>
            <p:nvPr/>
          </p:nvSpPr>
          <p:spPr>
            <a:xfrm>
              <a:off x="4532974" y="6043779"/>
              <a:ext cx="580697" cy="307777"/>
            </a:xfrm>
            <a:prstGeom prst="rect">
              <a:avLst/>
            </a:prstGeom>
            <a:solidFill>
              <a:srgbClr val="FFFF00"/>
            </a:solidFill>
          </p:spPr>
          <p:txBody>
            <a:bodyPr wrap="square" rtlCol="0">
              <a:spAutoFit/>
            </a:bodyPr>
            <a:lstStyle/>
            <a:p>
              <a:pPr algn="ctr"/>
              <a:r>
                <a:rPr lang="it-IT" sz="1400" dirty="0"/>
                <a:t>3, 11</a:t>
              </a:r>
            </a:p>
          </p:txBody>
        </p:sp>
        <p:sp>
          <p:nvSpPr>
            <p:cNvPr id="5" name="CasellaDiTesto 4">
              <a:extLst>
                <a:ext uri="{FF2B5EF4-FFF2-40B4-BE49-F238E27FC236}">
                  <a16:creationId xmlns:a16="http://schemas.microsoft.com/office/drawing/2014/main" id="{FB724CDA-67BA-2C6C-3B6D-5F1FFC1F92E2}"/>
                </a:ext>
              </a:extLst>
            </p:cNvPr>
            <p:cNvSpPr txBox="1"/>
            <p:nvPr/>
          </p:nvSpPr>
          <p:spPr>
            <a:xfrm>
              <a:off x="3700011" y="1549865"/>
              <a:ext cx="2150037" cy="646331"/>
            </a:xfrm>
            <a:prstGeom prst="rect">
              <a:avLst/>
            </a:prstGeom>
            <a:solidFill>
              <a:schemeClr val="bg1"/>
            </a:solidFill>
          </p:spPr>
          <p:txBody>
            <a:bodyPr wrap="square" rtlCol="0">
              <a:spAutoFit/>
            </a:bodyPr>
            <a:lstStyle/>
            <a:p>
              <a:pPr algn="ctr"/>
              <a:r>
                <a:rPr lang="it-IT" dirty="0"/>
                <a:t>Tested Reducer (Red Ratio=81)</a:t>
              </a:r>
            </a:p>
          </p:txBody>
        </p:sp>
        <p:sp>
          <p:nvSpPr>
            <p:cNvPr id="55" name="CasellaDiTesto 54">
              <a:extLst>
                <a:ext uri="{FF2B5EF4-FFF2-40B4-BE49-F238E27FC236}">
                  <a16:creationId xmlns:a16="http://schemas.microsoft.com/office/drawing/2014/main" id="{733C6E6A-649F-6065-8E30-26C990147112}"/>
                </a:ext>
              </a:extLst>
            </p:cNvPr>
            <p:cNvSpPr txBox="1"/>
            <p:nvPr/>
          </p:nvSpPr>
          <p:spPr>
            <a:xfrm>
              <a:off x="5606232" y="6054602"/>
              <a:ext cx="347472" cy="307777"/>
            </a:xfrm>
            <a:prstGeom prst="rect">
              <a:avLst/>
            </a:prstGeom>
            <a:solidFill>
              <a:srgbClr val="FFFF00"/>
            </a:solidFill>
          </p:spPr>
          <p:txBody>
            <a:bodyPr wrap="square" rtlCol="0">
              <a:spAutoFit/>
            </a:bodyPr>
            <a:lstStyle/>
            <a:p>
              <a:pPr algn="ctr"/>
              <a:r>
                <a:rPr lang="it-IT" sz="1400" dirty="0"/>
                <a:t>4</a:t>
              </a:r>
            </a:p>
          </p:txBody>
        </p:sp>
        <p:sp>
          <p:nvSpPr>
            <p:cNvPr id="56" name="CasellaDiTesto 55">
              <a:extLst>
                <a:ext uri="{FF2B5EF4-FFF2-40B4-BE49-F238E27FC236}">
                  <a16:creationId xmlns:a16="http://schemas.microsoft.com/office/drawing/2014/main" id="{9A229C84-B3B4-F144-C6B4-2C639494385F}"/>
                </a:ext>
              </a:extLst>
            </p:cNvPr>
            <p:cNvSpPr txBox="1"/>
            <p:nvPr/>
          </p:nvSpPr>
          <p:spPr>
            <a:xfrm>
              <a:off x="2442665" y="6043779"/>
              <a:ext cx="347472" cy="307777"/>
            </a:xfrm>
            <a:prstGeom prst="rect">
              <a:avLst/>
            </a:prstGeom>
            <a:solidFill>
              <a:srgbClr val="FFFF00"/>
            </a:solidFill>
          </p:spPr>
          <p:txBody>
            <a:bodyPr wrap="square" rtlCol="0">
              <a:spAutoFit/>
            </a:bodyPr>
            <a:lstStyle/>
            <a:p>
              <a:pPr algn="ctr"/>
              <a:r>
                <a:rPr lang="it-IT" sz="1400" dirty="0"/>
                <a:t>7</a:t>
              </a:r>
            </a:p>
          </p:txBody>
        </p:sp>
        <p:sp>
          <p:nvSpPr>
            <p:cNvPr id="57" name="CasellaDiTesto 56">
              <a:extLst>
                <a:ext uri="{FF2B5EF4-FFF2-40B4-BE49-F238E27FC236}">
                  <a16:creationId xmlns:a16="http://schemas.microsoft.com/office/drawing/2014/main" id="{48CEA74D-FA96-D6FC-BC38-4D537AD10CD5}"/>
                </a:ext>
              </a:extLst>
            </p:cNvPr>
            <p:cNvSpPr txBox="1"/>
            <p:nvPr/>
          </p:nvSpPr>
          <p:spPr>
            <a:xfrm>
              <a:off x="3115119" y="2196201"/>
              <a:ext cx="347472" cy="307777"/>
            </a:xfrm>
            <a:prstGeom prst="rect">
              <a:avLst/>
            </a:prstGeom>
            <a:solidFill>
              <a:srgbClr val="FFFF00"/>
            </a:solidFill>
          </p:spPr>
          <p:txBody>
            <a:bodyPr wrap="square" rtlCol="0">
              <a:spAutoFit/>
            </a:bodyPr>
            <a:lstStyle/>
            <a:p>
              <a:pPr algn="ctr"/>
              <a:r>
                <a:rPr lang="it-IT" sz="1400" dirty="0"/>
                <a:t>8</a:t>
              </a:r>
            </a:p>
          </p:txBody>
        </p:sp>
        <p:sp>
          <p:nvSpPr>
            <p:cNvPr id="58" name="CasellaDiTesto 57">
              <a:extLst>
                <a:ext uri="{FF2B5EF4-FFF2-40B4-BE49-F238E27FC236}">
                  <a16:creationId xmlns:a16="http://schemas.microsoft.com/office/drawing/2014/main" id="{EFB6F3A7-7B7E-833A-A11D-B41AA6856B3D}"/>
                </a:ext>
              </a:extLst>
            </p:cNvPr>
            <p:cNvSpPr txBox="1"/>
            <p:nvPr/>
          </p:nvSpPr>
          <p:spPr>
            <a:xfrm>
              <a:off x="7765339" y="1933379"/>
              <a:ext cx="347472" cy="307777"/>
            </a:xfrm>
            <a:prstGeom prst="rect">
              <a:avLst/>
            </a:prstGeom>
            <a:solidFill>
              <a:srgbClr val="FFFF00"/>
            </a:solidFill>
          </p:spPr>
          <p:txBody>
            <a:bodyPr wrap="square" rtlCol="0">
              <a:spAutoFit/>
            </a:bodyPr>
            <a:lstStyle/>
            <a:p>
              <a:pPr algn="ctr"/>
              <a:r>
                <a:rPr lang="it-IT" sz="1400" dirty="0"/>
                <a:t>9</a:t>
              </a:r>
            </a:p>
          </p:txBody>
        </p:sp>
        <p:sp>
          <p:nvSpPr>
            <p:cNvPr id="59" name="CasellaDiTesto 58">
              <a:extLst>
                <a:ext uri="{FF2B5EF4-FFF2-40B4-BE49-F238E27FC236}">
                  <a16:creationId xmlns:a16="http://schemas.microsoft.com/office/drawing/2014/main" id="{04E61FF7-5911-6B56-8E5A-F2470BF86101}"/>
                </a:ext>
              </a:extLst>
            </p:cNvPr>
            <p:cNvSpPr txBox="1"/>
            <p:nvPr/>
          </p:nvSpPr>
          <p:spPr>
            <a:xfrm>
              <a:off x="11070772" y="3101191"/>
              <a:ext cx="432379" cy="307777"/>
            </a:xfrm>
            <a:prstGeom prst="rect">
              <a:avLst/>
            </a:prstGeom>
            <a:solidFill>
              <a:srgbClr val="FFFF00"/>
            </a:solidFill>
          </p:spPr>
          <p:txBody>
            <a:bodyPr wrap="square" rtlCol="0">
              <a:spAutoFit/>
            </a:bodyPr>
            <a:lstStyle/>
            <a:p>
              <a:pPr algn="ctr"/>
              <a:r>
                <a:rPr lang="it-IT" sz="1400" dirty="0"/>
                <a:t>10</a:t>
              </a:r>
            </a:p>
          </p:txBody>
        </p:sp>
      </p:grpSp>
      <p:sp>
        <p:nvSpPr>
          <p:cNvPr id="61" name="CasellaDiTesto 60">
            <a:extLst>
              <a:ext uri="{FF2B5EF4-FFF2-40B4-BE49-F238E27FC236}">
                <a16:creationId xmlns:a16="http://schemas.microsoft.com/office/drawing/2014/main" id="{E40F964F-8238-5796-25E2-941230108A78}"/>
              </a:ext>
            </a:extLst>
          </p:cNvPr>
          <p:cNvSpPr txBox="1"/>
          <p:nvPr/>
        </p:nvSpPr>
        <p:spPr>
          <a:xfrm>
            <a:off x="5328290" y="44930"/>
            <a:ext cx="1535420" cy="584775"/>
          </a:xfrm>
          <a:prstGeom prst="rect">
            <a:avLst/>
          </a:prstGeom>
          <a:noFill/>
        </p:spPr>
        <p:txBody>
          <a:bodyPr wrap="none" rtlCol="0">
            <a:spAutoFit/>
          </a:bodyPr>
          <a:lstStyle/>
          <a:p>
            <a:r>
              <a:rPr lang="it-IT" sz="3200" b="1" dirty="0"/>
              <a:t>Legend</a:t>
            </a:r>
          </a:p>
        </p:txBody>
      </p:sp>
      <p:sp>
        <p:nvSpPr>
          <p:cNvPr id="63" name="CasellaDiTesto 62">
            <a:extLst>
              <a:ext uri="{FF2B5EF4-FFF2-40B4-BE49-F238E27FC236}">
                <a16:creationId xmlns:a16="http://schemas.microsoft.com/office/drawing/2014/main" id="{6414385C-799B-9A49-AD77-5D37D1C3D77B}"/>
              </a:ext>
            </a:extLst>
          </p:cNvPr>
          <p:cNvSpPr txBox="1"/>
          <p:nvPr/>
        </p:nvSpPr>
        <p:spPr>
          <a:xfrm>
            <a:off x="7368150" y="1101043"/>
            <a:ext cx="2283728" cy="646331"/>
          </a:xfrm>
          <a:prstGeom prst="rect">
            <a:avLst/>
          </a:prstGeom>
          <a:solidFill>
            <a:schemeClr val="bg1"/>
          </a:solidFill>
        </p:spPr>
        <p:txBody>
          <a:bodyPr wrap="square" rtlCol="0">
            <a:spAutoFit/>
          </a:bodyPr>
          <a:lstStyle/>
          <a:p>
            <a:pPr algn="ctr"/>
            <a:r>
              <a:rPr lang="it-IT" dirty="0" err="1"/>
              <a:t>Secondary</a:t>
            </a:r>
            <a:r>
              <a:rPr lang="it-IT" dirty="0"/>
              <a:t> Reducer (Red Ratio=156)</a:t>
            </a:r>
          </a:p>
        </p:txBody>
      </p:sp>
      <p:pic>
        <p:nvPicPr>
          <p:cNvPr id="65" name="Immagine 64">
            <a:extLst>
              <a:ext uri="{FF2B5EF4-FFF2-40B4-BE49-F238E27FC236}">
                <a16:creationId xmlns:a16="http://schemas.microsoft.com/office/drawing/2014/main" id="{167FCECB-36BC-802A-B5E7-AF9FDFDAF609}"/>
              </a:ext>
            </a:extLst>
          </p:cNvPr>
          <p:cNvPicPr>
            <a:picLocks noChangeAspect="1"/>
          </p:cNvPicPr>
          <p:nvPr/>
        </p:nvPicPr>
        <p:blipFill rotWithShape="1">
          <a:blip r:embed="rId3"/>
          <a:srcRect l="38470" t="22592" r="38052" b="29522"/>
          <a:stretch/>
        </p:blipFill>
        <p:spPr>
          <a:xfrm>
            <a:off x="4383562" y="2363257"/>
            <a:ext cx="272334" cy="599894"/>
          </a:xfrm>
          <a:prstGeom prst="rect">
            <a:avLst/>
          </a:prstGeom>
        </p:spPr>
      </p:pic>
      <p:pic>
        <p:nvPicPr>
          <p:cNvPr id="2" name="Immagine 1">
            <a:extLst>
              <a:ext uri="{FF2B5EF4-FFF2-40B4-BE49-F238E27FC236}">
                <a16:creationId xmlns:a16="http://schemas.microsoft.com/office/drawing/2014/main" id="{CAE6D85C-EF7A-186C-DF11-17FCD09C82F3}"/>
              </a:ext>
            </a:extLst>
          </p:cNvPr>
          <p:cNvPicPr>
            <a:picLocks noChangeAspect="1"/>
          </p:cNvPicPr>
          <p:nvPr/>
        </p:nvPicPr>
        <p:blipFill rotWithShape="1">
          <a:blip r:embed="rId3"/>
          <a:srcRect l="38470" t="22592" r="38052" b="29522"/>
          <a:stretch/>
        </p:blipFill>
        <p:spPr>
          <a:xfrm>
            <a:off x="8237680" y="2478537"/>
            <a:ext cx="272334" cy="599894"/>
          </a:xfrm>
          <a:prstGeom prst="rect">
            <a:avLst/>
          </a:prstGeom>
        </p:spPr>
      </p:pic>
    </p:spTree>
    <p:extLst>
      <p:ext uri="{BB962C8B-B14F-4D97-AF65-F5344CB8AC3E}">
        <p14:creationId xmlns:p14="http://schemas.microsoft.com/office/powerpoint/2010/main" val="3125199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F004B7FD-9855-87FB-F2E4-93502AAE9917}"/>
              </a:ext>
            </a:extLst>
          </p:cNvPr>
          <p:cNvSpPr txBox="1"/>
          <p:nvPr/>
        </p:nvSpPr>
        <p:spPr>
          <a:xfrm>
            <a:off x="4616204" y="44930"/>
            <a:ext cx="2959593" cy="584775"/>
          </a:xfrm>
          <a:prstGeom prst="rect">
            <a:avLst/>
          </a:prstGeom>
          <a:noFill/>
        </p:spPr>
        <p:txBody>
          <a:bodyPr wrap="none" rtlCol="0">
            <a:spAutoFit/>
          </a:bodyPr>
          <a:lstStyle/>
          <a:p>
            <a:r>
              <a:rPr lang="it-IT" sz="3200" b="1" dirty="0"/>
              <a:t>Test Procedure</a:t>
            </a:r>
          </a:p>
        </p:txBody>
      </p:sp>
      <p:sp>
        <p:nvSpPr>
          <p:cNvPr id="5" name="CasellaDiTesto 4">
            <a:extLst>
              <a:ext uri="{FF2B5EF4-FFF2-40B4-BE49-F238E27FC236}">
                <a16:creationId xmlns:a16="http://schemas.microsoft.com/office/drawing/2014/main" id="{DA71B90F-AFCC-473C-FB98-A564EDC62189}"/>
              </a:ext>
            </a:extLst>
          </p:cNvPr>
          <p:cNvSpPr txBox="1"/>
          <p:nvPr/>
        </p:nvSpPr>
        <p:spPr>
          <a:xfrm>
            <a:off x="663599" y="629705"/>
            <a:ext cx="10497312" cy="6463308"/>
          </a:xfrm>
          <a:prstGeom prst="rect">
            <a:avLst/>
          </a:prstGeom>
          <a:noFill/>
        </p:spPr>
        <p:txBody>
          <a:bodyPr wrap="square" rtlCol="0">
            <a:spAutoFit/>
          </a:bodyPr>
          <a:lstStyle/>
          <a:p>
            <a:r>
              <a:rPr lang="en-US" dirty="0"/>
              <a:t>It is programmed as a state machine within the TwinCAT PLC. The main steps are:</a:t>
            </a:r>
          </a:p>
          <a:p>
            <a:endParaRPr lang="en-US" dirty="0"/>
          </a:p>
          <a:p>
            <a:r>
              <a:rPr lang="en-US" b="1" dirty="0"/>
              <a:t>1) Warm-up</a:t>
            </a:r>
            <a:r>
              <a:rPr lang="en-US" dirty="0"/>
              <a:t>: free run until the target oil temperature is reached in the tested reducer.</a:t>
            </a:r>
            <a:br>
              <a:rPr lang="en-US" dirty="0"/>
            </a:br>
            <a:r>
              <a:rPr lang="en-US" b="1" dirty="0"/>
              <a:t>2) Homing</a:t>
            </a:r>
            <a:r>
              <a:rPr lang="en-US" dirty="0"/>
              <a:t>: position the reducer at its absolute zero position (output-side Renishaw encoder).</a:t>
            </a:r>
            <a:br>
              <a:rPr lang="en-US" dirty="0"/>
            </a:br>
            <a:r>
              <a:rPr lang="en-US" b="1" dirty="0"/>
              <a:t>3) Unloading</a:t>
            </a:r>
            <a:r>
              <a:rPr lang="en-US" dirty="0"/>
              <a:t>: the input-side Bosch motor maintains the reached position, while the output-side Bosch motor (torque-controlled) is used to unload the low-speed shaft.</a:t>
            </a:r>
            <a:br>
              <a:rPr lang="en-US" dirty="0"/>
            </a:br>
            <a:r>
              <a:rPr lang="en-US" b="1" dirty="0"/>
              <a:t>4) Zeroing</a:t>
            </a:r>
            <a:r>
              <a:rPr lang="en-US" dirty="0"/>
              <a:t>: the Renishaw encoders are single-turn absolute encoders, but their zero positions do not correspond to each other (it is impossible to mount the transmissions with guaranteed angular alignment).</a:t>
            </a:r>
          </a:p>
          <a:p>
            <a:endParaRPr lang="en-US" dirty="0"/>
          </a:p>
          <a:p>
            <a:endParaRPr lang="en-US" dirty="0"/>
          </a:p>
          <a:p>
            <a:endParaRPr lang="en-US" dirty="0"/>
          </a:p>
          <a:p>
            <a:endParaRPr lang="en-US" dirty="0"/>
          </a:p>
          <a:p>
            <a:endParaRPr lang="en-US" dirty="0"/>
          </a:p>
          <a:p>
            <a:endParaRPr lang="en-US" dirty="0"/>
          </a:p>
          <a:p>
            <a:r>
              <a:rPr lang="en-US" dirty="0"/>
              <a:t>Therefore, a software offset (mask) in the PLC is used to set a common baseline, ensuring that from this point onward both encoders are set to 0. Since zeroing is performed after unloading (Step 3), the output (slow) shaft may have moved a bit from the homing (0 absolute value, reached during Step 2). As a result, the zeroed encoder position slightly different from the absolute 0 position (the raw value read by the encoder). This does not create issues for the subsequent analyses. See the values highlighted in red in the previous slide. From this point, cumulative positions are computed (i.e., multi-turn positions, adding 360° each time a full revolution is completed).</a:t>
            </a:r>
          </a:p>
          <a:p>
            <a:endParaRPr lang="it-IT" i="1" dirty="0"/>
          </a:p>
        </p:txBody>
      </p:sp>
      <p:grpSp>
        <p:nvGrpSpPr>
          <p:cNvPr id="27" name="Gruppo 26">
            <a:extLst>
              <a:ext uri="{FF2B5EF4-FFF2-40B4-BE49-F238E27FC236}">
                <a16:creationId xmlns:a16="http://schemas.microsoft.com/office/drawing/2014/main" id="{2E5EC8B2-4E34-B49E-BD55-0631E2B3281B}"/>
              </a:ext>
            </a:extLst>
          </p:cNvPr>
          <p:cNvGrpSpPr/>
          <p:nvPr/>
        </p:nvGrpSpPr>
        <p:grpSpPr>
          <a:xfrm>
            <a:off x="779145" y="2918991"/>
            <a:ext cx="8679180" cy="1877735"/>
            <a:chOff x="1836420" y="4914626"/>
            <a:chExt cx="8679180" cy="1877735"/>
          </a:xfrm>
        </p:grpSpPr>
        <p:sp>
          <p:nvSpPr>
            <p:cNvPr id="6" name="Ovale 5">
              <a:extLst>
                <a:ext uri="{FF2B5EF4-FFF2-40B4-BE49-F238E27FC236}">
                  <a16:creationId xmlns:a16="http://schemas.microsoft.com/office/drawing/2014/main" id="{8D5659EA-2E4A-26B3-5F01-FAC6365CF476}"/>
                </a:ext>
              </a:extLst>
            </p:cNvPr>
            <p:cNvSpPr/>
            <p:nvPr/>
          </p:nvSpPr>
          <p:spPr>
            <a:xfrm>
              <a:off x="2889504" y="5431536"/>
              <a:ext cx="283464" cy="768096"/>
            </a:xfrm>
            <a:prstGeom prst="ellipse">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Ovale 6">
              <a:extLst>
                <a:ext uri="{FF2B5EF4-FFF2-40B4-BE49-F238E27FC236}">
                  <a16:creationId xmlns:a16="http://schemas.microsoft.com/office/drawing/2014/main" id="{5F8A263E-61E5-A250-C150-90AD87B89410}"/>
                </a:ext>
              </a:extLst>
            </p:cNvPr>
            <p:cNvSpPr/>
            <p:nvPr/>
          </p:nvSpPr>
          <p:spPr>
            <a:xfrm>
              <a:off x="4332740" y="5300472"/>
              <a:ext cx="283464" cy="1030224"/>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diritto 8">
              <a:extLst>
                <a:ext uri="{FF2B5EF4-FFF2-40B4-BE49-F238E27FC236}">
                  <a16:creationId xmlns:a16="http://schemas.microsoft.com/office/drawing/2014/main" id="{00254EEF-FB87-FDF3-8B68-9CDCB23573B2}"/>
                </a:ext>
              </a:extLst>
            </p:cNvPr>
            <p:cNvCxnSpPr>
              <a:cxnSpLocks/>
            </p:cNvCxnSpPr>
            <p:nvPr/>
          </p:nvCxnSpPr>
          <p:spPr>
            <a:xfrm flipH="1" flipV="1">
              <a:off x="2828925" y="5568696"/>
              <a:ext cx="151828" cy="1784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Connettore diritto 9">
              <a:extLst>
                <a:ext uri="{FF2B5EF4-FFF2-40B4-BE49-F238E27FC236}">
                  <a16:creationId xmlns:a16="http://schemas.microsoft.com/office/drawing/2014/main" id="{522C1738-4E44-DBB3-A4EA-063ABA6ADD7B}"/>
                </a:ext>
              </a:extLst>
            </p:cNvPr>
            <p:cNvCxnSpPr>
              <a:cxnSpLocks/>
            </p:cNvCxnSpPr>
            <p:nvPr/>
          </p:nvCxnSpPr>
          <p:spPr>
            <a:xfrm flipH="1" flipV="1">
              <a:off x="4483624" y="5229144"/>
              <a:ext cx="3245" cy="17402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Connettore diritto 18">
              <a:extLst>
                <a:ext uri="{FF2B5EF4-FFF2-40B4-BE49-F238E27FC236}">
                  <a16:creationId xmlns:a16="http://schemas.microsoft.com/office/drawing/2014/main" id="{0F1E64AF-302E-4A18-6D53-E79461F69635}"/>
                </a:ext>
              </a:extLst>
            </p:cNvPr>
            <p:cNvCxnSpPr/>
            <p:nvPr/>
          </p:nvCxnSpPr>
          <p:spPr>
            <a:xfrm flipV="1">
              <a:off x="1836420" y="5811083"/>
              <a:ext cx="4053840" cy="0"/>
            </a:xfrm>
            <a:prstGeom prst="line">
              <a:avLst/>
            </a:prstGeom>
            <a:ln w="9525">
              <a:solidFill>
                <a:schemeClr val="tx1"/>
              </a:solidFill>
              <a:prstDash val="dashDot"/>
            </a:ln>
          </p:spPr>
          <p:style>
            <a:lnRef idx="2">
              <a:schemeClr val="accent1"/>
            </a:lnRef>
            <a:fillRef idx="0">
              <a:schemeClr val="accent1"/>
            </a:fillRef>
            <a:effectRef idx="1">
              <a:schemeClr val="accent1"/>
            </a:effectRef>
            <a:fontRef idx="minor">
              <a:schemeClr val="tx1"/>
            </a:fontRef>
          </p:style>
        </p:cxnSp>
        <p:sp>
          <p:nvSpPr>
            <p:cNvPr id="20" name="CasellaDiTesto 19">
              <a:extLst>
                <a:ext uri="{FF2B5EF4-FFF2-40B4-BE49-F238E27FC236}">
                  <a16:creationId xmlns:a16="http://schemas.microsoft.com/office/drawing/2014/main" id="{8305EA45-E60A-3BB2-D875-6BCECD952238}"/>
                </a:ext>
              </a:extLst>
            </p:cNvPr>
            <p:cNvSpPr txBox="1"/>
            <p:nvPr/>
          </p:nvSpPr>
          <p:spPr>
            <a:xfrm>
              <a:off x="2539746" y="6321695"/>
              <a:ext cx="982980" cy="461665"/>
            </a:xfrm>
            <a:prstGeom prst="rect">
              <a:avLst/>
            </a:prstGeom>
            <a:noFill/>
          </p:spPr>
          <p:txBody>
            <a:bodyPr wrap="square" rtlCol="0">
              <a:spAutoFit/>
            </a:bodyPr>
            <a:lstStyle/>
            <a:p>
              <a:pPr algn="ctr"/>
              <a:r>
                <a:rPr lang="it-IT" sz="1200" dirty="0"/>
                <a:t>Renishaw</a:t>
              </a:r>
            </a:p>
            <a:p>
              <a:pPr algn="ctr"/>
              <a:r>
                <a:rPr lang="it-IT" sz="1200" dirty="0"/>
                <a:t>(input side)</a:t>
              </a:r>
            </a:p>
          </p:txBody>
        </p:sp>
        <p:sp>
          <p:nvSpPr>
            <p:cNvPr id="21" name="CasellaDiTesto 20">
              <a:extLst>
                <a:ext uri="{FF2B5EF4-FFF2-40B4-BE49-F238E27FC236}">
                  <a16:creationId xmlns:a16="http://schemas.microsoft.com/office/drawing/2014/main" id="{BD4F7B56-E80E-405C-31BE-D0887DFC28C4}"/>
                </a:ext>
              </a:extLst>
            </p:cNvPr>
            <p:cNvSpPr txBox="1"/>
            <p:nvPr/>
          </p:nvSpPr>
          <p:spPr>
            <a:xfrm>
              <a:off x="4025844" y="6330696"/>
              <a:ext cx="982980" cy="461665"/>
            </a:xfrm>
            <a:prstGeom prst="rect">
              <a:avLst/>
            </a:prstGeom>
            <a:noFill/>
          </p:spPr>
          <p:txBody>
            <a:bodyPr wrap="square" rtlCol="0">
              <a:spAutoFit/>
            </a:bodyPr>
            <a:lstStyle/>
            <a:p>
              <a:pPr algn="ctr"/>
              <a:r>
                <a:rPr lang="it-IT" sz="1200" dirty="0"/>
                <a:t>Renishaw</a:t>
              </a:r>
            </a:p>
            <a:p>
              <a:pPr algn="ctr"/>
              <a:r>
                <a:rPr lang="it-IT" sz="1200" dirty="0"/>
                <a:t>(input side)</a:t>
              </a:r>
            </a:p>
          </p:txBody>
        </p:sp>
        <p:sp>
          <p:nvSpPr>
            <p:cNvPr id="23" name="CasellaDiTesto 22">
              <a:extLst>
                <a:ext uri="{FF2B5EF4-FFF2-40B4-BE49-F238E27FC236}">
                  <a16:creationId xmlns:a16="http://schemas.microsoft.com/office/drawing/2014/main" id="{7E5310A8-D6D3-EDF3-7BE8-9A62C2CE5ACB}"/>
                </a:ext>
              </a:extLst>
            </p:cNvPr>
            <p:cNvSpPr txBox="1"/>
            <p:nvPr/>
          </p:nvSpPr>
          <p:spPr>
            <a:xfrm>
              <a:off x="1878814" y="5262266"/>
              <a:ext cx="1211366" cy="461665"/>
            </a:xfrm>
            <a:prstGeom prst="rect">
              <a:avLst/>
            </a:prstGeom>
            <a:noFill/>
          </p:spPr>
          <p:txBody>
            <a:bodyPr wrap="square" rtlCol="0">
              <a:spAutoFit/>
            </a:bodyPr>
            <a:lstStyle/>
            <a:p>
              <a:pPr algn="ctr"/>
              <a:r>
                <a:rPr lang="it-IT" sz="1200" dirty="0">
                  <a:solidFill>
                    <a:srgbClr val="FF0000"/>
                  </a:solidFill>
                </a:rPr>
                <a:t>Zero </a:t>
              </a:r>
              <a:r>
                <a:rPr lang="it-IT" sz="1200" dirty="0" err="1">
                  <a:solidFill>
                    <a:srgbClr val="FF0000"/>
                  </a:solidFill>
                </a:rPr>
                <a:t>absolute</a:t>
              </a:r>
              <a:r>
                <a:rPr lang="it-IT" sz="1200" dirty="0">
                  <a:solidFill>
                    <a:srgbClr val="FF0000"/>
                  </a:solidFill>
                </a:rPr>
                <a:t> value</a:t>
              </a:r>
            </a:p>
          </p:txBody>
        </p:sp>
        <p:sp>
          <p:nvSpPr>
            <p:cNvPr id="24" name="CasellaDiTesto 23">
              <a:extLst>
                <a:ext uri="{FF2B5EF4-FFF2-40B4-BE49-F238E27FC236}">
                  <a16:creationId xmlns:a16="http://schemas.microsoft.com/office/drawing/2014/main" id="{ACC6EA68-099D-9B6D-2C00-FA91C802C879}"/>
                </a:ext>
              </a:extLst>
            </p:cNvPr>
            <p:cNvSpPr txBox="1"/>
            <p:nvPr/>
          </p:nvSpPr>
          <p:spPr>
            <a:xfrm>
              <a:off x="4119094" y="4914626"/>
              <a:ext cx="1211366" cy="461665"/>
            </a:xfrm>
            <a:prstGeom prst="rect">
              <a:avLst/>
            </a:prstGeom>
            <a:noFill/>
          </p:spPr>
          <p:txBody>
            <a:bodyPr wrap="square" rtlCol="0">
              <a:spAutoFit/>
            </a:bodyPr>
            <a:lstStyle/>
            <a:p>
              <a:pPr algn="ctr"/>
              <a:r>
                <a:rPr lang="it-IT" sz="1200" dirty="0">
                  <a:solidFill>
                    <a:srgbClr val="FF0000"/>
                  </a:solidFill>
                </a:rPr>
                <a:t>Zero </a:t>
              </a:r>
              <a:r>
                <a:rPr lang="it-IT" sz="1200" dirty="0" err="1">
                  <a:solidFill>
                    <a:srgbClr val="FF0000"/>
                  </a:solidFill>
                </a:rPr>
                <a:t>absolute</a:t>
              </a:r>
              <a:r>
                <a:rPr lang="it-IT" sz="1200" dirty="0">
                  <a:solidFill>
                    <a:srgbClr val="FF0000"/>
                  </a:solidFill>
                </a:rPr>
                <a:t> value</a:t>
              </a:r>
            </a:p>
          </p:txBody>
        </p:sp>
        <p:sp>
          <p:nvSpPr>
            <p:cNvPr id="25" name="Freccia a destra 24">
              <a:extLst>
                <a:ext uri="{FF2B5EF4-FFF2-40B4-BE49-F238E27FC236}">
                  <a16:creationId xmlns:a16="http://schemas.microsoft.com/office/drawing/2014/main" id="{342B6A5F-E8DD-48D0-0389-4856E8ED28EB}"/>
                </a:ext>
              </a:extLst>
            </p:cNvPr>
            <p:cNvSpPr/>
            <p:nvPr/>
          </p:nvSpPr>
          <p:spPr>
            <a:xfrm>
              <a:off x="6439400" y="5641919"/>
              <a:ext cx="1386840" cy="338328"/>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CasellaDiTesto 25">
              <a:extLst>
                <a:ext uri="{FF2B5EF4-FFF2-40B4-BE49-F238E27FC236}">
                  <a16:creationId xmlns:a16="http://schemas.microsoft.com/office/drawing/2014/main" id="{1B3D3EEB-45E0-9C26-43AA-B079CA4CEE1F}"/>
                </a:ext>
              </a:extLst>
            </p:cNvPr>
            <p:cNvSpPr txBox="1"/>
            <p:nvPr/>
          </p:nvSpPr>
          <p:spPr>
            <a:xfrm>
              <a:off x="7937420" y="5395584"/>
              <a:ext cx="2578180" cy="830997"/>
            </a:xfrm>
            <a:prstGeom prst="rect">
              <a:avLst/>
            </a:prstGeom>
            <a:noFill/>
          </p:spPr>
          <p:txBody>
            <a:bodyPr wrap="square" rtlCol="0">
              <a:spAutoFit/>
            </a:bodyPr>
            <a:lstStyle/>
            <a:p>
              <a:pPr algn="ctr"/>
              <a:r>
                <a:rPr lang="it-IT" sz="1200" dirty="0"/>
                <a:t>The </a:t>
              </a:r>
              <a:r>
                <a:rPr lang="it-IT" sz="1200" dirty="0" err="1"/>
                <a:t>zeroing</a:t>
              </a:r>
              <a:r>
                <a:rPr lang="it-IT" sz="1200" dirty="0"/>
                <a:t> mask </a:t>
              </a:r>
              <a:r>
                <a:rPr lang="it-IT" sz="1200" dirty="0" err="1"/>
                <a:t>provides</a:t>
              </a:r>
              <a:r>
                <a:rPr lang="it-IT" sz="1200" dirty="0"/>
                <a:t> a position for </a:t>
              </a:r>
              <a:r>
                <a:rPr lang="it-IT" sz="1200" dirty="0" err="1"/>
                <a:t>which</a:t>
              </a:r>
              <a:r>
                <a:rPr lang="it-IT" sz="1200" dirty="0"/>
                <a:t> </a:t>
              </a:r>
              <a:r>
                <a:rPr lang="it-IT" sz="1200" dirty="0" err="1"/>
                <a:t>both</a:t>
              </a:r>
              <a:r>
                <a:rPr lang="it-IT" sz="1200" dirty="0"/>
                <a:t> encoders are </a:t>
              </a:r>
              <a:r>
                <a:rPr lang="it-IT" sz="1200" dirty="0" err="1"/>
                <a:t>initiated</a:t>
              </a:r>
              <a:r>
                <a:rPr lang="it-IT" sz="1200" dirty="0"/>
                <a:t> (</a:t>
              </a:r>
              <a:r>
                <a:rPr lang="it-IT" sz="1200" dirty="0" err="1"/>
                <a:t>though</a:t>
              </a:r>
              <a:r>
                <a:rPr lang="it-IT" sz="1200" dirty="0"/>
                <a:t> </a:t>
              </a:r>
              <a:r>
                <a:rPr lang="it-IT" sz="1200" dirty="0" err="1"/>
                <a:t>their</a:t>
              </a:r>
              <a:r>
                <a:rPr lang="it-IT" sz="1200" dirty="0"/>
                <a:t> </a:t>
              </a:r>
              <a:r>
                <a:rPr lang="it-IT" sz="1200" dirty="0" err="1"/>
                <a:t>own</a:t>
              </a:r>
              <a:r>
                <a:rPr lang="it-IT" sz="1200" dirty="0"/>
                <a:t> </a:t>
              </a:r>
              <a:r>
                <a:rPr lang="it-IT" sz="1200" dirty="0" err="1"/>
                <a:t>absolute</a:t>
              </a:r>
              <a:r>
                <a:rPr lang="it-IT" sz="1200" dirty="0"/>
                <a:t> values </a:t>
              </a:r>
              <a:r>
                <a:rPr lang="it-IT" sz="1200" dirty="0" err="1"/>
                <a:t>differ</a:t>
              </a:r>
              <a:r>
                <a:rPr lang="it-IT" sz="1200" dirty="0"/>
                <a:t>)</a:t>
              </a:r>
            </a:p>
          </p:txBody>
        </p:sp>
      </p:grpSp>
    </p:spTree>
    <p:extLst>
      <p:ext uri="{BB962C8B-B14F-4D97-AF65-F5344CB8AC3E}">
        <p14:creationId xmlns:p14="http://schemas.microsoft.com/office/powerpoint/2010/main" val="226227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CE7CA-3480-A363-64F5-CD1D7440ED57}"/>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C59C55DA-2415-543C-7512-9C068D6E60E5}"/>
              </a:ext>
            </a:extLst>
          </p:cNvPr>
          <p:cNvSpPr txBox="1"/>
          <p:nvPr/>
        </p:nvSpPr>
        <p:spPr>
          <a:xfrm>
            <a:off x="3624747" y="44930"/>
            <a:ext cx="4942507" cy="584775"/>
          </a:xfrm>
          <a:prstGeom prst="rect">
            <a:avLst/>
          </a:prstGeom>
          <a:noFill/>
        </p:spPr>
        <p:txBody>
          <a:bodyPr wrap="none" rtlCol="0">
            <a:spAutoFit/>
          </a:bodyPr>
          <a:lstStyle/>
          <a:p>
            <a:r>
              <a:rPr lang="it-IT" sz="3200" b="1" dirty="0"/>
              <a:t>Test Procedure (continue)</a:t>
            </a:r>
          </a:p>
        </p:txBody>
      </p:sp>
      <p:sp>
        <p:nvSpPr>
          <p:cNvPr id="5" name="CasellaDiTesto 4">
            <a:extLst>
              <a:ext uri="{FF2B5EF4-FFF2-40B4-BE49-F238E27FC236}">
                <a16:creationId xmlns:a16="http://schemas.microsoft.com/office/drawing/2014/main" id="{26779DE5-BBC1-223B-108E-F9C9FAF0B032}"/>
              </a:ext>
            </a:extLst>
          </p:cNvPr>
          <p:cNvSpPr txBox="1"/>
          <p:nvPr/>
        </p:nvSpPr>
        <p:spPr>
          <a:xfrm>
            <a:off x="466344" y="950976"/>
            <a:ext cx="10497312" cy="2862322"/>
          </a:xfrm>
          <a:prstGeom prst="rect">
            <a:avLst/>
          </a:prstGeom>
          <a:noFill/>
        </p:spPr>
        <p:txBody>
          <a:bodyPr wrap="square" rtlCol="0">
            <a:spAutoFit/>
          </a:bodyPr>
          <a:lstStyle/>
          <a:p>
            <a:r>
              <a:rPr lang="it-IT" dirty="0"/>
              <a:t>5) </a:t>
            </a:r>
            <a:r>
              <a:rPr lang="it-IT" b="1" dirty="0" err="1"/>
              <a:t>Run</a:t>
            </a:r>
            <a:r>
              <a:rPr lang="it-IT" b="1" dirty="0"/>
              <a:t> </a:t>
            </a:r>
            <a:r>
              <a:rPr lang="it-IT" b="1" dirty="0" err="1"/>
              <a:t>at</a:t>
            </a:r>
            <a:r>
              <a:rPr lang="it-IT" b="1" dirty="0"/>
              <a:t> target speed </a:t>
            </a:r>
            <a:r>
              <a:rPr lang="it-IT" dirty="0"/>
              <a:t>the input side </a:t>
            </a:r>
            <a:r>
              <a:rPr lang="it-IT" dirty="0" err="1"/>
              <a:t>motor</a:t>
            </a:r>
            <a:endParaRPr lang="it-IT" dirty="0"/>
          </a:p>
          <a:p>
            <a:r>
              <a:rPr lang="it-IT" dirty="0"/>
              <a:t>6) </a:t>
            </a:r>
            <a:r>
              <a:rPr lang="it-IT" b="1" dirty="0" err="1"/>
              <a:t>Ramp</a:t>
            </a:r>
            <a:r>
              <a:rPr lang="it-IT" b="1" dirty="0"/>
              <a:t> the torque </a:t>
            </a:r>
            <a:r>
              <a:rPr lang="it-IT" dirty="0"/>
              <a:t>on the slow </a:t>
            </a:r>
            <a:r>
              <a:rPr lang="it-IT" dirty="0" err="1"/>
              <a:t>shaft</a:t>
            </a:r>
            <a:r>
              <a:rPr lang="it-IT" dirty="0"/>
              <a:t> </a:t>
            </a:r>
            <a:r>
              <a:rPr lang="it-IT" dirty="0" err="1"/>
              <a:t>untill</a:t>
            </a:r>
            <a:r>
              <a:rPr lang="it-IT" dirty="0"/>
              <a:t> the target value </a:t>
            </a:r>
            <a:r>
              <a:rPr lang="it-IT" dirty="0" err="1"/>
              <a:t>is</a:t>
            </a:r>
            <a:r>
              <a:rPr lang="it-IT" dirty="0"/>
              <a:t> </a:t>
            </a:r>
            <a:r>
              <a:rPr lang="it-IT" dirty="0" err="1"/>
              <a:t>reached</a:t>
            </a:r>
            <a:r>
              <a:rPr lang="it-IT" dirty="0"/>
              <a:t>. The PLC </a:t>
            </a:r>
            <a:r>
              <a:rPr lang="it-IT" dirty="0" err="1"/>
              <a:t>modulates</a:t>
            </a:r>
            <a:r>
              <a:rPr lang="it-IT" dirty="0"/>
              <a:t> the output side BOSH </a:t>
            </a:r>
            <a:r>
              <a:rPr lang="it-IT" dirty="0" err="1"/>
              <a:t>servomotor</a:t>
            </a:r>
            <a:r>
              <a:rPr lang="it-IT" dirty="0"/>
              <a:t> torque </a:t>
            </a:r>
            <a:r>
              <a:rPr lang="it-IT" dirty="0" err="1"/>
              <a:t>setpoint</a:t>
            </a:r>
            <a:r>
              <a:rPr lang="it-IT" dirty="0"/>
              <a:t>  </a:t>
            </a:r>
            <a:r>
              <a:rPr lang="it-IT" dirty="0" err="1"/>
              <a:t>through</a:t>
            </a:r>
            <a:r>
              <a:rPr lang="it-IT" dirty="0"/>
              <a:t> a PID </a:t>
            </a:r>
            <a:r>
              <a:rPr lang="it-IT" dirty="0" err="1"/>
              <a:t>utilizing</a:t>
            </a:r>
            <a:r>
              <a:rPr lang="it-IT" dirty="0"/>
              <a:t> the Manner </a:t>
            </a:r>
            <a:r>
              <a:rPr lang="it-IT" dirty="0" err="1"/>
              <a:t>torquemeter</a:t>
            </a:r>
            <a:r>
              <a:rPr lang="it-IT" dirty="0"/>
              <a:t> (</a:t>
            </a:r>
            <a:r>
              <a:rPr lang="it-IT" dirty="0" err="1"/>
              <a:t>installed</a:t>
            </a:r>
            <a:r>
              <a:rPr lang="it-IT" dirty="0"/>
              <a:t> on the slow </a:t>
            </a:r>
            <a:r>
              <a:rPr lang="it-IT" dirty="0" err="1"/>
              <a:t>shaft</a:t>
            </a:r>
            <a:r>
              <a:rPr lang="it-IT" dirty="0"/>
              <a:t>) </a:t>
            </a:r>
            <a:r>
              <a:rPr lang="it-IT" dirty="0" err="1"/>
              <a:t>as</a:t>
            </a:r>
            <a:r>
              <a:rPr lang="it-IT" dirty="0"/>
              <a:t> a feedback.</a:t>
            </a:r>
          </a:p>
          <a:p>
            <a:r>
              <a:rPr lang="it-IT" dirty="0"/>
              <a:t>7) Once </a:t>
            </a:r>
            <a:r>
              <a:rPr lang="it-IT" dirty="0" err="1"/>
              <a:t>all</a:t>
            </a:r>
            <a:r>
              <a:rPr lang="it-IT" dirty="0"/>
              <a:t> test </a:t>
            </a:r>
            <a:r>
              <a:rPr lang="it-IT" dirty="0" err="1"/>
              <a:t>conditions</a:t>
            </a:r>
            <a:r>
              <a:rPr lang="it-IT" dirty="0"/>
              <a:t> are </a:t>
            </a:r>
            <a:r>
              <a:rPr lang="it-IT" dirty="0" err="1"/>
              <a:t>enforced</a:t>
            </a:r>
            <a:r>
              <a:rPr lang="it-IT" dirty="0"/>
              <a:t>, the </a:t>
            </a:r>
            <a:r>
              <a:rPr lang="it-IT" b="1" dirty="0"/>
              <a:t>data recording starts</a:t>
            </a:r>
          </a:p>
          <a:p>
            <a:r>
              <a:rPr lang="it-IT" dirty="0"/>
              <a:t>8) </a:t>
            </a:r>
            <a:r>
              <a:rPr lang="it-IT" b="1" dirty="0"/>
              <a:t>Data </a:t>
            </a:r>
            <a:r>
              <a:rPr lang="it-IT" b="1" dirty="0" err="1"/>
              <a:t>valid</a:t>
            </a:r>
            <a:r>
              <a:rPr lang="it-IT" b="1" dirty="0"/>
              <a:t> set to 1</a:t>
            </a:r>
            <a:r>
              <a:rPr lang="it-IT" dirty="0"/>
              <a:t> to indicate the </a:t>
            </a:r>
            <a:r>
              <a:rPr lang="it-IT" dirty="0" err="1"/>
              <a:t>interval</a:t>
            </a:r>
            <a:r>
              <a:rPr lang="it-IT" dirty="0"/>
              <a:t> </a:t>
            </a:r>
            <a:r>
              <a:rPr lang="it-IT" dirty="0" err="1"/>
              <a:t>between</a:t>
            </a:r>
            <a:r>
              <a:rPr lang="it-IT" dirty="0"/>
              <a:t> 0 and 360 of the </a:t>
            </a:r>
            <a:r>
              <a:rPr lang="it-IT" dirty="0" err="1"/>
              <a:t>absolute</a:t>
            </a:r>
            <a:r>
              <a:rPr lang="it-IT" dirty="0"/>
              <a:t> value of the Renishaw load-side encoder (</a:t>
            </a:r>
            <a:r>
              <a:rPr lang="it-IT" dirty="0">
                <a:solidFill>
                  <a:srgbClr val="FF0000"/>
                </a:solidFill>
              </a:rPr>
              <a:t>LAST COLUMN OF EXCEL DATA</a:t>
            </a:r>
            <a:r>
              <a:rPr lang="it-IT" dirty="0"/>
              <a:t>) for </a:t>
            </a:r>
            <a:r>
              <a:rPr lang="it-IT"/>
              <a:t>TE computation. </a:t>
            </a:r>
            <a:r>
              <a:rPr lang="it-IT" dirty="0"/>
              <a:t>Once the complete revolution </a:t>
            </a:r>
            <a:r>
              <a:rPr lang="it-IT" dirty="0" err="1"/>
              <a:t>is</a:t>
            </a:r>
            <a:r>
              <a:rPr lang="it-IT" dirty="0"/>
              <a:t> </a:t>
            </a:r>
            <a:r>
              <a:rPr lang="it-IT" dirty="0" err="1"/>
              <a:t>performed</a:t>
            </a:r>
            <a:r>
              <a:rPr lang="it-IT" dirty="0"/>
              <a:t>, data </a:t>
            </a:r>
            <a:r>
              <a:rPr lang="it-IT" dirty="0" err="1"/>
              <a:t>valid</a:t>
            </a:r>
            <a:r>
              <a:rPr lang="it-IT" dirty="0"/>
              <a:t> </a:t>
            </a:r>
            <a:r>
              <a:rPr lang="it-IT" dirty="0" err="1"/>
              <a:t>is</a:t>
            </a:r>
            <a:r>
              <a:rPr lang="it-IT" dirty="0"/>
              <a:t> set back to 0.</a:t>
            </a:r>
          </a:p>
          <a:p>
            <a:endParaRPr lang="it-IT" dirty="0"/>
          </a:p>
          <a:p>
            <a:r>
              <a:rPr lang="it-IT" i="1" dirty="0"/>
              <a:t>Note: the </a:t>
            </a:r>
            <a:r>
              <a:rPr lang="it-IT" i="1" dirty="0" err="1"/>
              <a:t>same</a:t>
            </a:r>
            <a:r>
              <a:rPr lang="it-IT" i="1" dirty="0"/>
              <a:t> procedure (steps 5 to 8) </a:t>
            </a:r>
            <a:r>
              <a:rPr lang="it-IT" i="1" dirty="0" err="1"/>
              <a:t>is</a:t>
            </a:r>
            <a:r>
              <a:rPr lang="it-IT" i="1" dirty="0"/>
              <a:t> </a:t>
            </a:r>
            <a:r>
              <a:rPr lang="it-IT" i="1" dirty="0" err="1"/>
              <a:t>repeated</a:t>
            </a:r>
            <a:r>
              <a:rPr lang="it-IT" i="1" dirty="0"/>
              <a:t> for the </a:t>
            </a:r>
            <a:r>
              <a:rPr lang="it-IT" i="1" dirty="0" err="1"/>
              <a:t>backward</a:t>
            </a:r>
            <a:r>
              <a:rPr lang="it-IT" i="1" dirty="0"/>
              <a:t> motion.</a:t>
            </a:r>
          </a:p>
        </p:txBody>
      </p:sp>
    </p:spTree>
    <p:extLst>
      <p:ext uri="{BB962C8B-B14F-4D97-AF65-F5344CB8AC3E}">
        <p14:creationId xmlns:p14="http://schemas.microsoft.com/office/powerpoint/2010/main" val="114484585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3ead71b-6a33-46be-9331-59182cc9caf3">
      <Terms xmlns="http://schemas.microsoft.com/office/infopath/2007/PartnerControls"/>
    </lcf76f155ced4ddcb4097134ff3c332f>
    <TaxCatchAll xmlns="4b927cf6-5c09-4d88-a072-a52c9d8db54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DE51B9C313FA145AA6FB306FF49F585" ma:contentTypeVersion="16" ma:contentTypeDescription="Creare un nuovo documento." ma:contentTypeScope="" ma:versionID="edf1ceb6c97e99a206813001f4e8232e">
  <xsd:schema xmlns:xsd="http://www.w3.org/2001/XMLSchema" xmlns:xs="http://www.w3.org/2001/XMLSchema" xmlns:p="http://schemas.microsoft.com/office/2006/metadata/properties" xmlns:ns2="03ead71b-6a33-46be-9331-59182cc9caf3" xmlns:ns3="4b927cf6-5c09-4d88-a072-a52c9d8db543" targetNamespace="http://schemas.microsoft.com/office/2006/metadata/properties" ma:root="true" ma:fieldsID="4fd9459b1326dde3ef788d7bfd5c6ffd" ns2:_="" ns3:_="">
    <xsd:import namespace="03ead71b-6a33-46be-9331-59182cc9caf3"/>
    <xsd:import namespace="4b927cf6-5c09-4d88-a072-a52c9d8db54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DateTaken"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ead71b-6a33-46be-9331-59182cc9c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Tag immagine" ma:readOnly="false" ma:fieldId="{5cf76f15-5ced-4ddc-b409-7134ff3c332f}" ma:taxonomyMulti="true" ma:sspId="feb7de8c-6efd-4c1c-a4e4-2fcdfb11897d"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927cf6-5c09-4d88-a072-a52c9d8db54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59ae993-677b-4648-8af5-3d5d353532df}" ma:internalName="TaxCatchAll" ma:showField="CatchAllData" ma:web="4b927cf6-5c09-4d88-a072-a52c9d8db54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Condiviso con dettagl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05C3FF-244D-4D89-AB7D-F9DA94C4AA0E}">
  <ds:schemaRefs>
    <ds:schemaRef ds:uri="http://schemas.microsoft.com/sharepoint/v3/contenttype/forms"/>
  </ds:schemaRefs>
</ds:datastoreItem>
</file>

<file path=customXml/itemProps2.xml><?xml version="1.0" encoding="utf-8"?>
<ds:datastoreItem xmlns:ds="http://schemas.openxmlformats.org/officeDocument/2006/customXml" ds:itemID="{9BDB71D9-43F5-4D6A-B893-A76B0B79C82A}">
  <ds:schemaRefs>
    <ds:schemaRef ds:uri="http://schemas.microsoft.com/office/2006/metadata/properties"/>
    <ds:schemaRef ds:uri="http://schemas.microsoft.com/office/infopath/2007/PartnerControls"/>
    <ds:schemaRef ds:uri="03ead71b-6a33-46be-9331-59182cc9caf3"/>
    <ds:schemaRef ds:uri="4b927cf6-5c09-4d88-a072-a52c9d8db543"/>
  </ds:schemaRefs>
</ds:datastoreItem>
</file>

<file path=customXml/itemProps3.xml><?xml version="1.0" encoding="utf-8"?>
<ds:datastoreItem xmlns:ds="http://schemas.openxmlformats.org/officeDocument/2006/customXml" ds:itemID="{8AD37EE2-5057-4C1A-B96A-25CF377CD3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ead71b-6a33-46be-9331-59182cc9caf3"/>
    <ds:schemaRef ds:uri="4b927cf6-5c09-4d88-a072-a52c9d8db5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104</TotalTime>
  <Words>554</Words>
  <Application>Microsoft Office PowerPoint</Application>
  <PresentationFormat>Widescreen</PresentationFormat>
  <Paragraphs>62</Paragraphs>
  <Slides>4</Slides>
  <Notes>2</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vt:i4>
      </vt:variant>
    </vt:vector>
  </HeadingPairs>
  <TitlesOfParts>
    <vt:vector size="8" baseType="lpstr">
      <vt:lpstr>Aptos</vt:lpstr>
      <vt:lpstr>Aptos Display</vt:lpstr>
      <vt:lpstr>Arial</vt:lpstr>
      <vt:lpstr>Tema di Office</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PIETRO BILANCIA</dc:creator>
  <cp:lastModifiedBy>PIETRO BILANCIA</cp:lastModifiedBy>
  <cp:revision>2</cp:revision>
  <dcterms:created xsi:type="dcterms:W3CDTF">2026-02-06T16:40:58Z</dcterms:created>
  <dcterms:modified xsi:type="dcterms:W3CDTF">2026-02-13T15:27:02Z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0x0101006DE51B9C313FA145AA6FB306FF49F585</vt:lpwstr>
  </property>
  <property fmtid="{D5CDD505-2E9C-101B-9397-08002B2CF9AE}" pid="3" name="MediaServiceImageTags">
    <vt:lpwstr/>
  </property>
</Properties>
</file>