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57" r:id="rId5"/>
  </p:sldMasterIdLst>
  <p:notesMasterIdLst>
    <p:notesMasterId r:id="rId9"/>
  </p:notesMasterIdLst>
  <p:sldIdLst>
    <p:sldId id="256" r:id="rId8"/>
    <p:sldId id="257" r:id="rId7"/>
    <p:sldId id="258" r:id="rId6"/>
    <p:sldId id="259" r:id="rId15"/>
    <p:sldId id="260" r:id="rId16"/>
    <p:sldId id="261" r:id="rId17"/>
    <p:sldId id="262" r:id="rId18"/>
    <p:sldId id="263" r:id="rId19"/>
    <p:sldId id="264" r:id="rId20"/>
    <p:sldId id="265" r:id="rId21"/>
    <p:sldId id="266" r:id="rId22"/>
    <p:sldId id="267" r:id="rId23"/>
    <p:sldId id="268" r:id="rId24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  <a:srgbClr val="696A6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2226" y="12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948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" Target="slides/slide3.xml"/><Relationship Id="rId7" Type="http://schemas.openxmlformats.org/officeDocument/2006/relationships/slide" Target="slides/slide2.xml"/><Relationship Id="rId8" Type="http://schemas.openxmlformats.org/officeDocument/2006/relationships/slide" Target="slides/slide1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microsoft.com/office/2016/11/relationships/changesInfo" Target="changesInfos/changesInfo1.xml"/><Relationship Id="rId15" Type="http://schemas.openxmlformats.org/officeDocument/2006/relationships/slide" Target="slides/slide4.xml"/><Relationship Id="rId16" Type="http://schemas.openxmlformats.org/officeDocument/2006/relationships/slide" Target="slides/slide5.xml"/><Relationship Id="rId17" Type="http://schemas.openxmlformats.org/officeDocument/2006/relationships/slide" Target="slides/slide6.xml"/><Relationship Id="rId18" Type="http://schemas.openxmlformats.org/officeDocument/2006/relationships/slide" Target="slides/slide7.xml"/><Relationship Id="rId19" Type="http://schemas.openxmlformats.org/officeDocument/2006/relationships/slide" Target="slides/slide8.xml"/><Relationship Id="rId20" Type="http://schemas.openxmlformats.org/officeDocument/2006/relationships/slide" Target="slides/slide9.xml"/><Relationship Id="rId21" Type="http://schemas.openxmlformats.org/officeDocument/2006/relationships/slide" Target="slides/slide10.xml"/><Relationship Id="rId22" Type="http://schemas.openxmlformats.org/officeDocument/2006/relationships/slide" Target="slides/slide11.xml"/><Relationship Id="rId23" Type="http://schemas.openxmlformats.org/officeDocument/2006/relationships/slide" Target="slides/slide12.xml"/><Relationship Id="rId2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IETRO BILANCIA" userId="f227a1cf-df95-4be9-9b8e-7599f8c38f3a" providerId="ADAL" clId="{B4475D16-D82A-4EA3-8740-9917DD2BE367}"/>
    <pc:docChg chg="custSel modSld">
      <pc:chgData name="PIETRO BILANCIA" userId="f227a1cf-df95-4be9-9b8e-7599f8c38f3a" providerId="ADAL" clId="{B4475D16-D82A-4EA3-8740-9917DD2BE367}" dt="2026-03-25T08:06:30.510" v="1" actId="1076"/>
      <pc:docMkLst>
        <pc:docMk/>
      </pc:docMkLst>
      <pc:sldChg chg="delSp modSp mod">
        <pc:chgData name="PIETRO BILANCIA" userId="f227a1cf-df95-4be9-9b8e-7599f8c38f3a" providerId="ADAL" clId="{B4475D16-D82A-4EA3-8740-9917DD2BE367}" dt="2026-03-25T08:06:30.510" v="1" actId="1076"/>
        <pc:sldMkLst>
          <pc:docMk/>
          <pc:sldMk cId="2510270922" sldId="4282"/>
        </pc:sldMkLst>
        <pc:picChg chg="mod">
          <ac:chgData name="PIETRO BILANCIA" userId="f227a1cf-df95-4be9-9b8e-7599f8c38f3a" providerId="ADAL" clId="{B4475D16-D82A-4EA3-8740-9917DD2BE367}" dt="2026-03-25T08:06:30.510" v="1" actId="1076"/>
          <ac:picMkLst>
            <pc:docMk/>
            <pc:sldMk cId="2510270922" sldId="4282"/>
            <ac:picMk id="5" creationId="{40FCA4FF-8946-B74F-A77B-9D28E773408D}"/>
          </ac:picMkLst>
        </pc:picChg>
        <pc:picChg chg="del">
          <ac:chgData name="PIETRO BILANCIA" userId="f227a1cf-df95-4be9-9b8e-7599f8c38f3a" providerId="ADAL" clId="{B4475D16-D82A-4EA3-8740-9917DD2BE367}" dt="2026-03-25T08:06:29.669" v="0" actId="478"/>
          <ac:picMkLst>
            <pc:docMk/>
            <pc:sldMk cId="2510270922" sldId="4282"/>
            <ac:picMk id="6" creationId="{ACECC78D-FE0B-546E-BAED-C05A0AD5EE62}"/>
          </ac:picMkLst>
        </pc:pic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150A83-E0DE-4AD0-9ABA-C3ADF418393F}" type="datetimeFigureOut">
              <a:rPr lang="it-IT" smtClean="0"/>
              <a:t>25/03/2026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333689-20ED-4290-84E8-711D19BFC6D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93993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37458" y="1214438"/>
            <a:ext cx="9144000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 dirty="0"/>
              <a:t>Click to edit Master title style</a:t>
            </a:r>
            <a:endParaRPr lang="it-IT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37458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713818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  <a:endParaRPr lang="it-IT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1093693" y="1049214"/>
            <a:ext cx="7663445" cy="569296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2824831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3694" y="75065"/>
            <a:ext cx="10793506" cy="804165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it-IT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3694" y="1060938"/>
            <a:ext cx="5892322" cy="565075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56704" y="1060937"/>
            <a:ext cx="4731306" cy="565075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138635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tangolo 4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1590692" y="2008290"/>
            <a:ext cx="9144000" cy="2387600"/>
          </a:xfrm>
        </p:spPr>
        <p:txBody>
          <a:bodyPr anchor="ctr" anchorCtr="0">
            <a:normAutofit/>
          </a:bodyPr>
          <a:lstStyle>
            <a:lvl1pPr algn="ctr">
              <a:defRPr sz="480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2279533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rova" type="title">
  <p:cSld name="prova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415611" y="992767"/>
            <a:ext cx="11360800" cy="273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800" cy="105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endParaRPr/>
          </a:p>
        </p:txBody>
      </p:sp>
      <p:pic>
        <p:nvPicPr>
          <p:cNvPr id="12" name="Google Shape;12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510667" y="6190068"/>
            <a:ext cx="478135" cy="47876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376466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415600" y="2867800"/>
            <a:ext cx="11360800" cy="112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00120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828109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53332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lvl="1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2133"/>
              </a:spcBef>
              <a:spcAft>
                <a:spcPts val="2133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6443200" y="1536633"/>
            <a:ext cx="53332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lvl="1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2133"/>
              </a:spcBef>
              <a:spcAft>
                <a:spcPts val="2133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873013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832072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415600" y="740800"/>
            <a:ext cx="3744000" cy="100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415600" y="1852800"/>
            <a:ext cx="3744000" cy="423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1pPr>
            <a:lvl2pPr marL="1219170" lvl="1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2133"/>
              </a:spcBef>
              <a:spcAft>
                <a:spcPts val="2133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494663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653667" y="600200"/>
            <a:ext cx="8490400" cy="545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553028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latin typeface="Calibri" panose="020F0502020204030204" pitchFamily="34" charset="0"/>
            </a:endParaRPr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354000" y="1644233"/>
            <a:ext cx="5393600" cy="197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354000" y="3737433"/>
            <a:ext cx="5393600" cy="164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6586000" y="965433"/>
            <a:ext cx="5116000" cy="49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14579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415600" y="5640767"/>
            <a:ext cx="7998400" cy="80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609585" lvl="0" indent="-30479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1097913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it-IT" smtClean="0"/>
              <a:pPr/>
              <a:t>‹N›</a:t>
            </a:fld>
            <a:endParaRPr lang="it-IT"/>
          </a:p>
        </p:txBody>
      </p:sp>
      <p:sp>
        <p:nvSpPr>
          <p:cNvPr id="46" name="Google Shape;46;p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98337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2460199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Relationship Id="rId6" Type="http://schemas.openxmlformats.org/officeDocument/2006/relationships/image" Target="../media/image1.png"/><Relationship Id="rId7" Type="http://schemas.openxmlformats.org/officeDocument/2006/relationships/image" Target="../media/image2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Layout" Target="../slideLayouts/slideLayout6.xml"/><Relationship Id="rId3" Type="http://schemas.openxmlformats.org/officeDocument/2006/relationships/slideLayout" Target="../slideLayouts/slideLayout7.xml"/><Relationship Id="rId4" Type="http://schemas.openxmlformats.org/officeDocument/2006/relationships/slideLayout" Target="../slideLayouts/slideLayout8.xml"/><Relationship Id="rId5" Type="http://schemas.openxmlformats.org/officeDocument/2006/relationships/slideLayout" Target="../slideLayouts/slideLayout9.xml"/><Relationship Id="rId6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1.xml"/><Relationship Id="rId8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3.xml"/><Relationship Id="rId10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15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3694" y="116099"/>
            <a:ext cx="10793506" cy="7983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</a:t>
            </a:r>
            <a:br>
              <a:rPr lang="en-US" dirty="0"/>
            </a:br>
            <a:r>
              <a:rPr lang="en-US" dirty="0"/>
              <a:t>style</a:t>
            </a:r>
            <a:endParaRPr lang="it-IT" dirty="0"/>
          </a:p>
        </p:txBody>
      </p:sp>
      <p:pic>
        <p:nvPicPr>
          <p:cNvPr id="25" name="Picture 24"/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00" r="61641"/>
          <a:stretch/>
        </p:blipFill>
        <p:spPr>
          <a:xfrm rot="16200000">
            <a:off x="-2743797" y="3420781"/>
            <a:ext cx="6172858" cy="686337"/>
          </a:xfrm>
          <a:prstGeom prst="rect">
            <a:avLst/>
          </a:prstGeom>
        </p:spPr>
      </p:pic>
      <p:sp>
        <p:nvSpPr>
          <p:cNvPr id="12" name="CasellaDiTesto 11"/>
          <p:cNvSpPr txBox="1"/>
          <p:nvPr userDrawn="1"/>
        </p:nvSpPr>
        <p:spPr>
          <a:xfrm rot="16200000" flipH="1">
            <a:off x="-1985197" y="4200361"/>
            <a:ext cx="44319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b="1" dirty="0" err="1">
                <a:solidFill>
                  <a:schemeClr val="bg1"/>
                </a:solidFill>
              </a:rPr>
              <a:t>XiLAB</a:t>
            </a:r>
            <a:r>
              <a:rPr lang="it-IT" sz="1600" b="1" dirty="0">
                <a:solidFill>
                  <a:schemeClr val="bg1"/>
                </a:solidFill>
              </a:rPr>
              <a:t> </a:t>
            </a:r>
            <a:r>
              <a:rPr lang="it-IT" sz="1600" b="1" baseline="0" dirty="0">
                <a:solidFill>
                  <a:schemeClr val="bg1"/>
                </a:solidFill>
              </a:rPr>
              <a:t>X-in-the-Loop Advanced </a:t>
            </a:r>
            <a:r>
              <a:rPr lang="it-IT" sz="1600" b="1" baseline="0" dirty="0" err="1">
                <a:solidFill>
                  <a:schemeClr val="bg1"/>
                </a:solidFill>
              </a:rPr>
              <a:t>Simulation</a:t>
            </a:r>
            <a:r>
              <a:rPr lang="it-IT" sz="1600" b="1" baseline="0" dirty="0">
                <a:solidFill>
                  <a:schemeClr val="bg1"/>
                </a:solidFill>
              </a:rPr>
              <a:t> Lab</a:t>
            </a:r>
            <a:r>
              <a:rPr lang="it-IT" sz="1600" b="1" dirty="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13" name="CasellaDiTesto 12"/>
          <p:cNvSpPr txBox="1"/>
          <p:nvPr userDrawn="1"/>
        </p:nvSpPr>
        <p:spPr>
          <a:xfrm rot="16200000" flipH="1">
            <a:off x="-2510260" y="3505104"/>
            <a:ext cx="60244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900" b="1" dirty="0">
                <a:solidFill>
                  <a:schemeClr val="bg1"/>
                </a:solidFill>
              </a:rPr>
              <a:t>Marcello</a:t>
            </a:r>
            <a:r>
              <a:rPr lang="it-IT" sz="900" b="1" baseline="0" dirty="0">
                <a:solidFill>
                  <a:schemeClr val="bg1"/>
                </a:solidFill>
              </a:rPr>
              <a:t> Pellicciari</a:t>
            </a:r>
            <a:r>
              <a:rPr lang="it-IT" sz="800" b="1" dirty="0">
                <a:solidFill>
                  <a:schemeClr val="bg1"/>
                </a:solidFill>
              </a:rPr>
              <a:t> </a:t>
            </a:r>
            <a:r>
              <a:rPr lang="it-IT" sz="800" dirty="0">
                <a:solidFill>
                  <a:schemeClr val="bg1"/>
                </a:solidFill>
              </a:rPr>
              <a:t> marcello.pellicciari@unimore.it </a:t>
            </a:r>
            <a:r>
              <a:rPr lang="it-IT" sz="900" b="1" kern="1200" baseline="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Pietro Bilancia </a:t>
            </a:r>
            <a:r>
              <a:rPr lang="it-IT" sz="900" b="0" kern="1200" baseline="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pietro.bilancia</a:t>
            </a:r>
            <a:r>
              <a:rPr lang="it-IT" sz="900" dirty="0">
                <a:solidFill>
                  <a:schemeClr val="bg1"/>
                </a:solidFill>
              </a:rPr>
              <a:t>@unimore.it </a:t>
            </a:r>
            <a:endParaRPr lang="it-IT" sz="900" b="1" kern="12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  <a:p>
            <a:r>
              <a:rPr lang="it-IT" sz="900" b="1" kern="1200" baseline="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© Università degli studi di Modena e Reggio Emilia</a:t>
            </a:r>
          </a:p>
        </p:txBody>
      </p:sp>
      <p:sp>
        <p:nvSpPr>
          <p:cNvPr id="14" name="Slide Number Placeholder 5"/>
          <p:cNvSpPr txBox="1">
            <a:spLocks/>
          </p:cNvSpPr>
          <p:nvPr userDrawn="1"/>
        </p:nvSpPr>
        <p:spPr>
          <a:xfrm>
            <a:off x="-537" y="6563868"/>
            <a:ext cx="484527" cy="260893"/>
          </a:xfrm>
          <a:prstGeom prst="rect">
            <a:avLst/>
          </a:prstGeom>
        </p:spPr>
        <p:txBody>
          <a:bodyPr/>
          <a:lstStyle>
            <a:defPPr>
              <a:defRPr lang="it-IT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DA8ACAD-C596-4A89-A039-2B26FC650994}" type="slidenum">
              <a:rPr lang="it-IT" sz="1400" smtClean="0">
                <a:solidFill>
                  <a:schemeClr val="bg1"/>
                </a:solidFill>
                <a:latin typeface="Calibri" panose="020F0502020204030204" pitchFamily="34" charset="0"/>
              </a:rPr>
              <a:pPr/>
              <a:t>‹N›</a:t>
            </a:fld>
            <a:endParaRPr lang="it-IT" dirty="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pic>
        <p:nvPicPr>
          <p:cNvPr id="4" name="Immagine 3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-537" y="-648"/>
            <a:ext cx="686338" cy="686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20125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6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285750" indent="-28575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 dirty="0"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 dirty="0"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333">
                <a:solidFill>
                  <a:schemeClr val="dk2"/>
                </a:solidFill>
                <a:latin typeface="Calibri" panose="020F0502020204030204" pitchFamily="34" charset="0"/>
              </a:defRPr>
            </a:lvl1pPr>
            <a:lvl2pPr lvl="1" algn="r">
              <a:buNone/>
              <a:defRPr sz="1333">
                <a:solidFill>
                  <a:schemeClr val="dk2"/>
                </a:solidFill>
              </a:defRPr>
            </a:lvl2pPr>
            <a:lvl3pPr lvl="2" algn="r">
              <a:buNone/>
              <a:defRPr sz="1333">
                <a:solidFill>
                  <a:schemeClr val="dk2"/>
                </a:solidFill>
              </a:defRPr>
            </a:lvl3pPr>
            <a:lvl4pPr lvl="3" algn="r">
              <a:buNone/>
              <a:defRPr sz="1333">
                <a:solidFill>
                  <a:schemeClr val="dk2"/>
                </a:solidFill>
              </a:defRPr>
            </a:lvl4pPr>
            <a:lvl5pPr lvl="4" algn="r">
              <a:buNone/>
              <a:defRPr sz="1333">
                <a:solidFill>
                  <a:schemeClr val="dk2"/>
                </a:solidFill>
              </a:defRPr>
            </a:lvl5pPr>
            <a:lvl6pPr lvl="5" algn="r">
              <a:buNone/>
              <a:defRPr sz="1333">
                <a:solidFill>
                  <a:schemeClr val="dk2"/>
                </a:solidFill>
              </a:defRPr>
            </a:lvl6pPr>
            <a:lvl7pPr lvl="6" algn="r">
              <a:buNone/>
              <a:defRPr sz="1333">
                <a:solidFill>
                  <a:schemeClr val="dk2"/>
                </a:solidFill>
              </a:defRPr>
            </a:lvl7pPr>
            <a:lvl8pPr lvl="7" algn="r">
              <a:buNone/>
              <a:defRPr sz="1333">
                <a:solidFill>
                  <a:schemeClr val="dk2"/>
                </a:solidFill>
              </a:defRPr>
            </a:lvl8pPr>
            <a:lvl9pPr lvl="8" algn="r">
              <a:buNone/>
              <a:defRPr sz="1333">
                <a:solidFill>
                  <a:schemeClr val="dk2"/>
                </a:solidFill>
              </a:defRPr>
            </a:lvl9pPr>
          </a:lstStyle>
          <a:p>
            <a:fld id="{00000000-1234-1234-1234-123412341234}" type="slidenum">
              <a:rPr lang="it-IT" smtClean="0"/>
              <a:pPr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812120464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16193B"/>
                </a:solidFill>
              </a:defRPr>
            </a:pPr>
            <a:r>
              <a:t>StandardML - Codex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pPr algn="l">
              <a:defRPr sz="1600">
                <a:solidFill>
                  <a:srgbClr val="35478C"/>
                </a:solidFill>
              </a:defRPr>
            </a:pPr>
            <a:r>
              <a:t>Project Status Overview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16193B"/>
                </a:solidFill>
              </a:defRPr>
            </a:pPr>
            <a:r>
              <a:t>Why This Project Exists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t"/>
          <a:lstStyle/>
          <a:p>
            <a:pPr algn="l">
              <a:spcAft>
                <a:spcPts val="800"/>
              </a:spcAft>
              <a:defRPr sz="2100">
                <a:solidFill>
                  <a:srgbClr val="242B45"/>
                </a:solidFill>
              </a:defRPr>
            </a:pPr>
            <a:r>
              <a:t>transmission error is a key reducer accuracy signal</a:t>
            </a:r>
          </a:p>
          <a:p>
            <a:pPr algn="l">
              <a:spcAft>
                <a:spcPts val="800"/>
              </a:spcAft>
              <a:defRPr sz="2100">
                <a:solidFill>
                  <a:srgbClr val="242B45"/>
                </a:solidFill>
              </a:defRPr>
            </a:pPr>
            <a:r>
              <a:t>the repository targets both predictive accuracy and engineering usability</a:t>
            </a:r>
          </a:p>
          <a:p>
            <a:pPr algn="l">
              <a:spcAft>
                <a:spcPts val="800"/>
              </a:spcAft>
              <a:defRPr sz="2100">
                <a:solidFill>
                  <a:srgbClr val="242B45"/>
                </a:solidFill>
              </a:defRPr>
            </a:pPr>
            <a:r>
              <a:t>deployment realism matters, especially for future TwinCAT / PLC paths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16193B"/>
                </a:solidFill>
              </a:defRPr>
            </a:pPr>
            <a:r>
              <a:t>Current Repository Identity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t"/>
          <a:lstStyle/>
          <a:p>
            <a:pPr algn="l">
              <a:spcAft>
                <a:spcPts val="800"/>
              </a:spcAft>
              <a:defRPr sz="2100">
                <a:solidFill>
                  <a:srgbClr val="242B45"/>
                </a:solidFill>
              </a:defRPr>
            </a:pPr>
            <a:r>
              <a:t>no longer a single-model prototype</a:t>
            </a:r>
          </a:p>
          <a:p>
            <a:pPr algn="l">
              <a:spcAft>
                <a:spcPts val="800"/>
              </a:spcAft>
              <a:defRPr sz="2100">
                <a:solidFill>
                  <a:srgbClr val="242B45"/>
                </a:solidFill>
              </a:defRPr>
            </a:pPr>
            <a:r>
              <a:t>now a structured TE modeling program</a:t>
            </a:r>
          </a:p>
          <a:p>
            <a:pPr algn="l">
              <a:spcAft>
                <a:spcPts val="800"/>
              </a:spcAft>
              <a:defRPr sz="2100">
                <a:solidFill>
                  <a:srgbClr val="242B45"/>
                </a:solidFill>
              </a:defRPr>
            </a:pPr>
            <a:r>
              <a:t>includes training, validation, smoke-test, campaign, report, and guide layers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16193B"/>
                </a:solidFill>
              </a:defRPr>
            </a:pPr>
            <a:r>
              <a:t>What Has Already Been Built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t"/>
          <a:lstStyle/>
          <a:p>
            <a:pPr algn="l">
              <a:spcAft>
                <a:spcPts val="800"/>
              </a:spcAft>
              <a:defRPr sz="2100">
                <a:solidFill>
                  <a:srgbClr val="242B45"/>
                </a:solidFill>
              </a:defRPr>
            </a:pPr>
            <a:r>
              <a:t>validated TE dataset workflow</a:t>
            </a:r>
          </a:p>
          <a:p>
            <a:pPr algn="l">
              <a:spcAft>
                <a:spcPts val="800"/>
              </a:spcAft>
              <a:defRPr sz="2100">
                <a:solidFill>
                  <a:srgbClr val="242B45"/>
                </a:solidFill>
              </a:defRPr>
            </a:pPr>
            <a:r>
              <a:t>shared training and verification infrastructure</a:t>
            </a:r>
          </a:p>
          <a:p>
            <a:pPr algn="l">
              <a:spcAft>
                <a:spcPts val="800"/>
              </a:spcAft>
              <a:defRPr sz="2100">
                <a:solidFill>
                  <a:srgbClr val="242B45"/>
                </a:solidFill>
              </a:defRPr>
            </a:pPr>
            <a:r>
              <a:t>styled PDF reporting pipeline</a:t>
            </a:r>
          </a:p>
          <a:p>
            <a:pPr algn="l">
              <a:spcAft>
                <a:spcPts val="800"/>
              </a:spcAft>
              <a:defRPr sz="2100">
                <a:solidFill>
                  <a:srgbClr val="242B45"/>
                </a:solidFill>
              </a:defRPr>
            </a:pPr>
            <a:r>
              <a:t>campaign planning and campaign-results discipline</a:t>
            </a:r>
          </a:p>
          <a:p>
            <a:pPr algn="l">
              <a:spcAft>
                <a:spcPts val="800"/>
              </a:spcAft>
              <a:defRPr sz="2100">
                <a:solidFill>
                  <a:srgbClr val="242B45"/>
                </a:solidFill>
              </a:defRPr>
            </a:pPr>
            <a:r>
              <a:t>educational guides and NotebookLM source packages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16193B"/>
                </a:solidFill>
              </a:defRPr>
            </a:pPr>
            <a:r>
              <a:t>Implemented Model Families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t"/>
          <a:lstStyle/>
          <a:p>
            <a:pPr algn="l">
              <a:spcAft>
                <a:spcPts val="800"/>
              </a:spcAft>
              <a:defRPr sz="2100">
                <a:solidFill>
                  <a:srgbClr val="242B45"/>
                </a:solidFill>
              </a:defRPr>
            </a:pPr>
            <a:r>
              <a:t>feedforward</a:t>
            </a:r>
          </a:p>
          <a:p>
            <a:pPr algn="l">
              <a:spcAft>
                <a:spcPts val="800"/>
              </a:spcAft>
              <a:defRPr sz="2100">
                <a:solidFill>
                  <a:srgbClr val="242B45"/>
                </a:solidFill>
              </a:defRPr>
            </a:pPr>
            <a:r>
              <a:t>harmonic_regression</a:t>
            </a:r>
          </a:p>
          <a:p>
            <a:pPr algn="l">
              <a:spcAft>
                <a:spcPts val="800"/>
              </a:spcAft>
              <a:defRPr sz="2100">
                <a:solidFill>
                  <a:srgbClr val="242B45"/>
                </a:solidFill>
              </a:defRPr>
            </a:pPr>
            <a:r>
              <a:t>periodic_mlp</a:t>
            </a:r>
          </a:p>
          <a:p>
            <a:pPr algn="l">
              <a:spcAft>
                <a:spcPts val="800"/>
              </a:spcAft>
              <a:defRPr sz="2100">
                <a:solidFill>
                  <a:srgbClr val="242B45"/>
                </a:solidFill>
              </a:defRPr>
            </a:pPr>
            <a:r>
              <a:t>residual_harmonic_mlp</a:t>
            </a:r>
          </a:p>
          <a:p>
            <a:pPr algn="l">
              <a:spcAft>
                <a:spcPts val="800"/>
              </a:spcAft>
              <a:defRPr sz="2100">
                <a:solidFill>
                  <a:srgbClr val="242B45"/>
                </a:solidFill>
              </a:defRPr>
            </a:pPr>
            <a:r>
              <a:t>tree</a:t>
            </a:r>
          </a:p>
          <a:p>
            <a:pPr algn="l">
              <a:spcAft>
                <a:spcPts val="1000"/>
              </a:spcAft>
              <a:defRPr sz="2200">
                <a:solidFill>
                  <a:srgbClr val="242B45"/>
                </a:solidFill>
              </a:defRPr>
            </a:pPr>
            <a:r>
              <a:t>Each family now lives inside the same artifact and evaluation structure.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16193B"/>
                </a:solidFill>
              </a:defRPr>
            </a:pPr>
            <a:r>
              <a:t>Best Current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093693" y="1049214"/>
          <a:ext cx="7663445" cy="28072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31722"/>
                <a:gridCol w="3831723"/>
              </a:tblGrid>
              <a:tr h="467868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Family</a:t>
                      </a:r>
                    </a:p>
                  </a:txBody>
                  <a:tcPr anchor="ctr">
                    <a:solidFill>
                      <a:srgbClr val="3547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Best Test MAE [deg]</a:t>
                      </a:r>
                    </a:p>
                  </a:txBody>
                  <a:tcPr anchor="ctr">
                    <a:solidFill>
                      <a:srgbClr val="35478C"/>
                    </a:solidFill>
                  </a:tcPr>
                </a:tc>
              </a:tr>
              <a:tr h="467868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42B45"/>
                          </a:solidFill>
                        </a:defRPr>
                      </a:pPr>
                      <a:r>
                        <a:t>tree</a:t>
                      </a:r>
                    </a:p>
                  </a:txBody>
                  <a:tcPr anchor="ctr"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42B45"/>
                          </a:solidFill>
                        </a:defRPr>
                      </a:pPr>
                      <a:r>
                        <a:t>0.002885</a:t>
                      </a:r>
                    </a:p>
                  </a:txBody>
                  <a:tcPr anchor="ctr">
                    <a:solidFill>
                      <a:srgbClr val="FAFCFF"/>
                    </a:solidFill>
                  </a:tcPr>
                </a:tc>
              </a:tr>
              <a:tr h="467868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42B45"/>
                          </a:solidFill>
                        </a:defRPr>
                      </a:pPr>
                      <a:r>
                        <a:t>residual_harmonic_mlp</a:t>
                      </a:r>
                    </a:p>
                  </a:txBody>
                  <a:tcPr anchor="ctr"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42B45"/>
                          </a:solidFill>
                        </a:defRPr>
                      </a:pPr>
                      <a:r>
                        <a:t>0.003152</a:t>
                      </a:r>
                    </a:p>
                  </a:txBody>
                  <a:tcPr anchor="ctr">
                    <a:solidFill>
                      <a:srgbClr val="FAFCFF"/>
                    </a:solidFill>
                  </a:tcPr>
                </a:tc>
              </a:tr>
              <a:tr h="467868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42B45"/>
                          </a:solidFill>
                        </a:defRPr>
                      </a:pPr>
                      <a:r>
                        <a:t>feedforward</a:t>
                      </a:r>
                    </a:p>
                  </a:txBody>
                  <a:tcPr anchor="ctr"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42B45"/>
                          </a:solidFill>
                        </a:defRPr>
                      </a:pPr>
                      <a:r>
                        <a:t>0.003301</a:t>
                      </a:r>
                    </a:p>
                  </a:txBody>
                  <a:tcPr anchor="ctr">
                    <a:solidFill>
                      <a:srgbClr val="FAFCFF"/>
                    </a:solidFill>
                  </a:tcPr>
                </a:tc>
              </a:tr>
              <a:tr h="467868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42B45"/>
                          </a:solidFill>
                        </a:defRPr>
                      </a:pPr>
                      <a:r>
                        <a:t>periodic_mlp</a:t>
                      </a:r>
                    </a:p>
                  </a:txBody>
                  <a:tcPr anchor="ctr"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42B45"/>
                          </a:solidFill>
                        </a:defRPr>
                      </a:pPr>
                      <a:r>
                        <a:t>0.003317</a:t>
                      </a:r>
                    </a:p>
                  </a:txBody>
                  <a:tcPr anchor="ctr">
                    <a:solidFill>
                      <a:srgbClr val="FAFCFF"/>
                    </a:solidFill>
                  </a:tcPr>
                </a:tc>
              </a:tr>
              <a:tr h="467868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42B45"/>
                          </a:solidFill>
                        </a:defRPr>
                      </a:pPr>
                      <a:r>
                        <a:t>harmonic_regression</a:t>
                      </a:r>
                    </a:p>
                  </a:txBody>
                  <a:tcPr anchor="ctr"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42B45"/>
                          </a:solidFill>
                        </a:defRPr>
                      </a:pPr>
                      <a:r>
                        <a:t>0.020782</a:t>
                      </a:r>
                    </a:p>
                  </a:txBody>
                  <a:tcPr anchor="ctr">
                    <a:solidFill>
                      <a:srgbClr val="FAFC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16193B"/>
                </a:solidFill>
              </a:defRPr>
            </a:pPr>
            <a:r>
              <a:t>Main Technical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t"/>
          <a:lstStyle/>
          <a:p>
            <a:pPr algn="l">
              <a:spcAft>
                <a:spcPts val="800"/>
              </a:spcAft>
              <a:defRPr sz="2100">
                <a:solidFill>
                  <a:srgbClr val="242B45"/>
                </a:solidFill>
              </a:defRPr>
            </a:pPr>
            <a:r>
              <a:t>the current global leader is still hist_gradient_boosting</a:t>
            </a:r>
          </a:p>
          <a:p>
            <a:pPr algn="l">
              <a:spcAft>
                <a:spcPts val="800"/>
              </a:spcAft>
              <a:defRPr sz="2100">
                <a:solidFill>
                  <a:srgbClr val="242B45"/>
                </a:solidFill>
              </a:defRPr>
            </a:pPr>
            <a:r>
              <a:t>the strongest neural direction is now residual_harmonic_mlp</a:t>
            </a:r>
          </a:p>
          <a:p>
            <a:pPr algn="l">
              <a:spcAft>
                <a:spcPts val="800"/>
              </a:spcAft>
              <a:defRPr sz="2100">
                <a:solidFill>
                  <a:srgbClr val="242B45"/>
                </a:solidFill>
              </a:defRPr>
            </a:pPr>
            <a:r>
              <a:t>harmonic regression remains valuable mainly as a structured reference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16193B"/>
                </a:solidFill>
              </a:defRPr>
            </a:pPr>
            <a:r>
              <a:t>Why The Work Was Done This Way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t"/>
          <a:lstStyle/>
          <a:p>
            <a:pPr algn="l">
              <a:spcAft>
                <a:spcPts val="800"/>
              </a:spcAft>
              <a:defRPr sz="2100">
                <a:solidFill>
                  <a:srgbClr val="242B45"/>
                </a:solidFill>
              </a:defRPr>
            </a:pPr>
            <a:r>
              <a:t>structured baselines before heavier models</a:t>
            </a:r>
          </a:p>
          <a:p>
            <a:pPr algn="l">
              <a:spcAft>
                <a:spcPts val="800"/>
              </a:spcAft>
              <a:defRPr sz="2100">
                <a:solidFill>
                  <a:srgbClr val="242B45"/>
                </a:solidFill>
              </a:defRPr>
            </a:pPr>
            <a:r>
              <a:t>shared infrastructure before broad family expansion</a:t>
            </a:r>
          </a:p>
          <a:p>
            <a:pPr algn="l">
              <a:spcAft>
                <a:spcPts val="800"/>
              </a:spcAft>
              <a:defRPr sz="2100">
                <a:solidFill>
                  <a:srgbClr val="242B45"/>
                </a:solidFill>
              </a:defRPr>
            </a:pPr>
            <a:r>
              <a:t>reporting discipline before large campaign growth</a:t>
            </a:r>
          </a:p>
          <a:p>
            <a:pPr algn="l">
              <a:spcAft>
                <a:spcPts val="800"/>
              </a:spcAft>
              <a:defRPr sz="2100">
                <a:solidFill>
                  <a:srgbClr val="242B45"/>
                </a:solidFill>
              </a:defRPr>
            </a:pPr>
            <a:r>
              <a:t>documentation and explainability treated as core project assets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16193B"/>
                </a:solidFill>
              </a:defRPr>
            </a:pPr>
            <a:r>
              <a:t>Documentation And Communication Layer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t"/>
          <a:lstStyle/>
          <a:p>
            <a:pPr algn="l">
              <a:spcAft>
                <a:spcPts val="800"/>
              </a:spcAft>
              <a:defRPr sz="2100">
                <a:solidFill>
                  <a:srgbClr val="242B45"/>
                </a:solidFill>
              </a:defRPr>
            </a:pPr>
            <a:r>
              <a:t>GitHub-facing README</a:t>
            </a:r>
          </a:p>
          <a:p>
            <a:pPr algn="l">
              <a:spcAft>
                <a:spcPts val="800"/>
              </a:spcAft>
              <a:defRPr sz="2100">
                <a:solidFill>
                  <a:srgbClr val="242B45"/>
                </a:solidFill>
              </a:defRPr>
            </a:pPr>
            <a:r>
              <a:t>doc/README.md documentation index</a:t>
            </a:r>
          </a:p>
          <a:p>
            <a:pPr algn="l">
              <a:spcAft>
                <a:spcPts val="800"/>
              </a:spcAft>
              <a:defRPr sz="2100">
                <a:solidFill>
                  <a:srgbClr val="242B45"/>
                </a:solidFill>
              </a:defRPr>
            </a:pPr>
            <a:r>
              <a:t>canonical guides with PDFs</a:t>
            </a:r>
          </a:p>
          <a:p>
            <a:pPr algn="l">
              <a:spcAft>
                <a:spcPts val="800"/>
              </a:spcAft>
              <a:defRPr sz="2100">
                <a:solidFill>
                  <a:srgbClr val="242B45"/>
                </a:solidFill>
              </a:defRPr>
            </a:pPr>
            <a:r>
              <a:t>NotebookLM source packages for video-oriented reuse</a:t>
            </a:r>
          </a:p>
          <a:p>
            <a:pPr algn="l">
              <a:spcAft>
                <a:spcPts val="800"/>
              </a:spcAft>
              <a:defRPr sz="2100">
                <a:solidFill>
                  <a:srgbClr val="242B45"/>
                </a:solidFill>
              </a:defRPr>
            </a:pPr>
            <a:r>
              <a:t>repository-owned Codex skills and subagents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16193B"/>
                </a:solidFill>
              </a:defRPr>
            </a:pPr>
            <a:r>
              <a:t>Current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t"/>
          <a:lstStyle/>
          <a:p>
            <a:pPr algn="l">
              <a:spcAft>
                <a:spcPts val="800"/>
              </a:spcAft>
              <a:defRPr sz="2100">
                <a:solidFill>
                  <a:srgbClr val="242B45"/>
                </a:solidFill>
              </a:defRPr>
            </a:pPr>
            <a:r>
              <a:t>keep model comparison honest through registries and campaign reports</a:t>
            </a:r>
          </a:p>
          <a:p>
            <a:pPr algn="l">
              <a:spcAft>
                <a:spcPts val="800"/>
              </a:spcAft>
              <a:defRPr sz="2100">
                <a:solidFill>
                  <a:srgbClr val="242B45"/>
                </a:solidFill>
              </a:defRPr>
            </a:pPr>
            <a:r>
              <a:t>preserve residual harmonic as the main neural branch</a:t>
            </a:r>
          </a:p>
          <a:p>
            <a:pPr algn="l">
              <a:spcAft>
                <a:spcPts val="800"/>
              </a:spcAft>
              <a:defRPr sz="2100">
                <a:solidFill>
                  <a:srgbClr val="242B45"/>
                </a:solidFill>
              </a:defRPr>
            </a:pPr>
            <a:r>
              <a:t>open the TwinCAT deployment evaluation track carefully</a:t>
            </a:r>
          </a:p>
          <a:p>
            <a:pPr algn="l">
              <a:spcAft>
                <a:spcPts val="800"/>
              </a:spcAft>
              <a:defRPr sz="2100">
                <a:solidFill>
                  <a:srgbClr val="242B45"/>
                </a:solidFill>
              </a:defRPr>
            </a:pPr>
            <a:r>
              <a:t>prepare the transition to Wave 2 temporal models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16193B"/>
                </a:solidFill>
              </a:defRPr>
            </a:pPr>
            <a:r>
              <a:t>Important Open Gaps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t"/>
          <a:lstStyle/>
          <a:p>
            <a:pPr algn="l">
              <a:spcAft>
                <a:spcPts val="800"/>
              </a:spcAft>
              <a:defRPr sz="2100">
                <a:solidFill>
                  <a:srgbClr val="242B45"/>
                </a:solidFill>
              </a:defRPr>
            </a:pPr>
            <a:r>
              <a:t>neural models have not yet overtaken the tree leader</a:t>
            </a:r>
          </a:p>
          <a:p>
            <a:pPr algn="l">
              <a:spcAft>
                <a:spcPts val="800"/>
              </a:spcAft>
              <a:defRPr sz="2100">
                <a:solidFill>
                  <a:srgbClr val="242B45"/>
                </a:solidFill>
              </a:defRPr>
            </a:pPr>
            <a:r>
              <a:t>temporal families are still pending</a:t>
            </a:r>
          </a:p>
          <a:p>
            <a:pPr algn="l">
              <a:spcAft>
                <a:spcPts val="800"/>
              </a:spcAft>
              <a:defRPr sz="2100">
                <a:solidFill>
                  <a:srgbClr val="242B45"/>
                </a:solidFill>
              </a:defRPr>
            </a:pPr>
            <a:r>
              <a:t>deployment evaluation is planned but not yet executed</a:t>
            </a:r>
          </a:p>
          <a:p>
            <a:pPr algn="l">
              <a:spcAft>
                <a:spcPts val="800"/>
              </a:spcAft>
              <a:defRPr sz="2100">
                <a:solidFill>
                  <a:srgbClr val="242B45"/>
                </a:solidFill>
              </a:defRPr>
            </a:pPr>
            <a:r>
              <a:t>the live backlog needs synchronization with the latest delivered reports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16193B"/>
                </a:solidFill>
              </a:defRPr>
            </a:pPr>
            <a:r>
              <a:t>Recommended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t"/>
          <a:lstStyle/>
          <a:p>
            <a:pPr algn="l">
              <a:spcAft>
                <a:spcPts val="1000"/>
              </a:spcAft>
              <a:defRPr sz="2200">
                <a:solidFill>
                  <a:srgbClr val="242B45"/>
                </a:solidFill>
              </a:defRPr>
            </a:pPr>
            <a:r>
              <a:t>1. update the live backlog and running-state view 2. formalize the TwinCAT deployment evaluation branch 3. keep the residual winner as the neural reference anchor 4. prepare Wave 2 temporal implementation 5. preserve the current documentation and reporting discipline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16193B"/>
                </a:solidFill>
              </a:defRPr>
            </a:pPr>
            <a:r>
              <a:t>Strategic Takeaway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t"/>
          <a:lstStyle/>
          <a:p>
            <a:pPr algn="l">
              <a:spcAft>
                <a:spcPts val="1000"/>
              </a:spcAft>
              <a:defRPr sz="2200">
                <a:solidFill>
                  <a:srgbClr val="242B45"/>
                </a:solidFill>
              </a:defRPr>
            </a:pPr>
            <a:r>
              <a:t>The repository has already built the foundation and the first serious comparison layer.</a:t>
            </a:r>
          </a:p>
          <a:p>
            <a:pPr algn="l">
              <a:spcAft>
                <a:spcPts val="1000"/>
              </a:spcAft>
              <a:defRPr sz="2200">
                <a:solidFill>
                  <a:srgbClr val="242B45"/>
                </a:solidFill>
              </a:defRPr>
            </a:pPr>
            <a:r>
              <a:t>The next question is no longer whether the project can run structured TE experiments.</a:t>
            </a:r>
          </a:p>
          <a:p>
            <a:pPr algn="l">
              <a:spcAft>
                <a:spcPts val="1000"/>
              </a:spcAft>
              <a:defRPr sz="2200">
                <a:solidFill>
                  <a:srgbClr val="242B45"/>
                </a:solidFill>
              </a:defRPr>
            </a:pPr>
            <a:r>
              <a:t>The next question is which direction should be promoted next without losing deployment realism, documentation quality, and comparison discipline.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6DE51B9C313FA145AA6FB306FF49F585" ma:contentTypeVersion="16" ma:contentTypeDescription="Creare un nuovo documento." ma:contentTypeScope="" ma:versionID="edf1ceb6c97e99a206813001f4e8232e">
  <xsd:schema xmlns:xsd="http://www.w3.org/2001/XMLSchema" xmlns:xs="http://www.w3.org/2001/XMLSchema" xmlns:p="http://schemas.microsoft.com/office/2006/metadata/properties" xmlns:ns2="03ead71b-6a33-46be-9331-59182cc9caf3" xmlns:ns3="4b927cf6-5c09-4d88-a072-a52c9d8db543" targetNamespace="http://schemas.microsoft.com/office/2006/metadata/properties" ma:root="true" ma:fieldsID="4fd9459b1326dde3ef788d7bfd5c6ffd" ns2:_="" ns3:_="">
    <xsd:import namespace="03ead71b-6a33-46be-9331-59182cc9caf3"/>
    <xsd:import namespace="4b927cf6-5c09-4d88-a072-a52c9d8db54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DateTaken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3ead71b-6a33-46be-9331-59182cc9caf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Tag immagine" ma:readOnly="false" ma:fieldId="{5cf76f15-5ced-4ddc-b409-7134ff3c332f}" ma:taxonomyMulti="true" ma:sspId="feb7de8c-6efd-4c1c-a4e4-2fcdfb11897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description="" ma:indexed="true" ma:internalName="MediaServiceLocation" ma:readOnly="true">
      <xsd:simpleType>
        <xsd:restriction base="dms:Text"/>
      </xsd:simpleType>
    </xsd:element>
    <xsd:element name="MediaServiceObjectDetectorVersions" ma:index="2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b927cf6-5c09-4d88-a072-a52c9d8db543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459ae993-677b-4648-8af5-3d5d353532df}" ma:internalName="TaxCatchAll" ma:showField="CatchAllData" ma:web="4b927cf6-5c09-4d88-a072-a52c9d8db54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8" nillable="true" ma:displayName="Condivis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Condiviso con dettagli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3ead71b-6a33-46be-9331-59182cc9caf3">
      <Terms xmlns="http://schemas.microsoft.com/office/infopath/2007/PartnerControls"/>
    </lcf76f155ced4ddcb4097134ff3c332f>
    <TaxCatchAll xmlns="4b927cf6-5c09-4d88-a072-a52c9d8db543" xsi:nil="true"/>
  </documentManagement>
</p:properties>
</file>

<file path=customXml/itemProps1.xml><?xml version="1.0" encoding="utf-8"?>
<ds:datastoreItem xmlns:ds="http://schemas.openxmlformats.org/officeDocument/2006/customXml" ds:itemID="{8CB3B1DD-EC4B-4B55-BA01-7E565FBDDEB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0CA7850-963D-4994-BDCA-B32FA4BC043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3ead71b-6a33-46be-9331-59182cc9caf3"/>
    <ds:schemaRef ds:uri="4b927cf6-5c09-4d88-a072-a52c9d8db54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EE618F6-02A5-4E60-B645-0AFDA99448DE}">
  <ds:schemaRefs>
    <ds:schemaRef ds:uri="http://schemas.microsoft.com/office/2006/metadata/properties"/>
    <ds:schemaRef ds:uri="http://schemas.microsoft.com/office/infopath/2007/PartnerControls"/>
    <ds:schemaRef ds:uri="03ead71b-6a33-46be-9331-59182cc9caf3"/>
    <ds:schemaRef ds:uri="4b927cf6-5c09-4d88-a072-a52c9d8db543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1055</TotalTime>
  <Words>20</Words>
  <Application>Microsoft Office PowerPoint</Application>
  <PresentationFormat>Widescreen</PresentationFormat>
  <Paragraphs>6</Paragraphs>
  <Slides>3</Slides>
  <Notes>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2</vt:i4>
      </vt:variant>
      <vt:variant>
        <vt:lpstr>Tema</vt:lpstr>
      </vt:variant>
      <vt:variant>
        <vt:i4>2</vt:i4>
      </vt:variant>
      <vt:variant>
        <vt:lpstr>Titoli diapositive</vt:lpstr>
      </vt:variant>
      <vt:variant>
        <vt:i4>3</vt:i4>
      </vt:variant>
    </vt:vector>
  </HeadingPairs>
  <TitlesOfParts>
    <vt:vector size="7" baseType="lpstr">
      <vt:lpstr>Arial</vt:lpstr>
      <vt:lpstr>Calibri</vt:lpstr>
      <vt:lpstr>Office Theme</vt:lpstr>
      <vt:lpstr>Simple Light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Utente</dc:creator>
  <cp:lastModifiedBy>PIETRO BILANCIA</cp:lastModifiedBy>
  <cp:revision>143</cp:revision>
  <dcterms:created xsi:type="dcterms:W3CDTF">2015-04-17T14:22:12Z</dcterms:created>
  <dcterms:modified xsi:type="dcterms:W3CDTF">2026-03-25T08:06:32Z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0x0101006DE51B9C313FA145AA6FB306FF49F585</vt:lpwstr>
  </property>
</Properties>
</file>